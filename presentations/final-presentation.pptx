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6.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16aefc3235c4db2" /><Relationship Type="http://schemas.openxmlformats.org/officeDocument/2006/relationships/extended-properties" Target="/docProps/app.xml" Id="R03b67615db774d5b" /><Relationship Type="http://schemas.openxmlformats.org/officeDocument/2006/relationships/officeDocument" Target="/ppt/presentation.xml" Id="R5a726094a2674e96" /></Relationships>
</file>

<file path=ppt/presentation.xml><?xml version="1.0" encoding="utf-8"?>
<p:presentation xmlns:p="http://schemas.openxmlformats.org/presentationml/2006/main">
  <p:sldMasterIdLst>
    <p:sldMasterId xmlns:r="http://schemas.openxmlformats.org/officeDocument/2006/relationships" id="2147483648" r:id="Rf2659d923aba44dd"/>
  </p:sldMasterIdLst>
  <p:notesMasterIdLst>
    <p:notesMasterId xmlns:r="http://schemas.openxmlformats.org/officeDocument/2006/relationships" r:id="Rb7e1aae32e724be3"/>
  </p:notesMasterIdLst>
  <p:sldIdLst>
    <p:sldId xmlns:r="http://schemas.openxmlformats.org/officeDocument/2006/relationships" id="256" r:id="R3b3325665b4946ce"/>
    <p:sldId xmlns:r="http://schemas.openxmlformats.org/officeDocument/2006/relationships" id="257" r:id="R1fc15ffd8ee24f3a"/>
    <p:sldId xmlns:r="http://schemas.openxmlformats.org/officeDocument/2006/relationships" id="258" r:id="R9d2463980a8b4414"/>
    <p:sldId xmlns:r="http://schemas.openxmlformats.org/officeDocument/2006/relationships" id="259" r:id="R25e5d941adbe4660"/>
    <p:sldId xmlns:r="http://schemas.openxmlformats.org/officeDocument/2006/relationships" id="260" r:id="R075ac9f281344be9"/>
    <p:sldId xmlns:r="http://schemas.openxmlformats.org/officeDocument/2006/relationships" id="261" r:id="R30791cf26e5b4b51"/>
    <p:sldId xmlns:r="http://schemas.openxmlformats.org/officeDocument/2006/relationships" id="262" r:id="Rb12b1ca615f54ece"/>
    <p:sldId xmlns:r="http://schemas.openxmlformats.org/officeDocument/2006/relationships" id="263" r:id="R54b7dd11a8a94fac"/>
    <p:sldId xmlns:r="http://schemas.openxmlformats.org/officeDocument/2006/relationships" id="264" r:id="R2bbacf0384ac4a21"/>
    <p:sldId xmlns:r="http://schemas.openxmlformats.org/officeDocument/2006/relationships" id="265" r:id="R7af3326d763b4156"/>
    <p:sldId xmlns:r="http://schemas.openxmlformats.org/officeDocument/2006/relationships" id="266" r:id="R64d8ad0a708445ca"/>
    <p:sldId xmlns:r="http://schemas.openxmlformats.org/officeDocument/2006/relationships" id="267" r:id="R4877c33166374b85"/>
    <p:sldId xmlns:r="http://schemas.openxmlformats.org/officeDocument/2006/relationships" id="268" r:id="Rca1e0a4221354b33"/>
    <p:sldId xmlns:r="http://schemas.openxmlformats.org/officeDocument/2006/relationships" id="269" r:id="R6db811b7a9f344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41bd54d12d46f3" /><Relationship Type="http://schemas.openxmlformats.org/officeDocument/2006/relationships/slideMaster" Target="/ppt/slideMasters/slideMaster1.xml" Id="Rf2659d923aba44dd" /><Relationship Type="http://schemas.openxmlformats.org/officeDocument/2006/relationships/notesMaster" Target="/ppt/notesMasters/notesMaster1.xml" Id="Rb7e1aae32e724be3" /><Relationship Type="http://schemas.openxmlformats.org/officeDocument/2006/relationships/presProps" Target="/ppt/presProps.xml" Id="Rfaf3eaf87f2b4a16" /><Relationship Type="http://schemas.openxmlformats.org/officeDocument/2006/relationships/tableStyles" Target="/ppt/tableStyles.xml" Id="Rcb14d4d2a7f648ca" /><Relationship Type="http://schemas.openxmlformats.org/officeDocument/2006/relationships/slide" Target="/ppt/slides/slide1.xml" Id="R3b3325665b4946ce" /><Relationship Type="http://schemas.openxmlformats.org/officeDocument/2006/relationships/slide" Target="/ppt/slides/slide2.xml" Id="R1fc15ffd8ee24f3a" /><Relationship Type="http://schemas.openxmlformats.org/officeDocument/2006/relationships/slide" Target="/ppt/slides/slide3.xml" Id="R9d2463980a8b4414" /><Relationship Type="http://schemas.openxmlformats.org/officeDocument/2006/relationships/slide" Target="/ppt/slides/slide4.xml" Id="R25e5d941adbe4660" /><Relationship Type="http://schemas.openxmlformats.org/officeDocument/2006/relationships/slide" Target="/ppt/slides/slide5.xml" Id="R075ac9f281344be9" /><Relationship Type="http://schemas.openxmlformats.org/officeDocument/2006/relationships/slide" Target="/ppt/slides/slide6.xml" Id="R30791cf26e5b4b51" /><Relationship Type="http://schemas.openxmlformats.org/officeDocument/2006/relationships/slide" Target="/ppt/slides/slide7.xml" Id="Rb12b1ca615f54ece" /><Relationship Type="http://schemas.openxmlformats.org/officeDocument/2006/relationships/slide" Target="/ppt/slides/slide8.xml" Id="R54b7dd11a8a94fac" /><Relationship Type="http://schemas.openxmlformats.org/officeDocument/2006/relationships/slide" Target="/ppt/slides/slide9.xml" Id="R2bbacf0384ac4a21" /><Relationship Type="http://schemas.openxmlformats.org/officeDocument/2006/relationships/slide" Target="/ppt/slides/slide10.xml" Id="R7af3326d763b4156" /><Relationship Type="http://schemas.openxmlformats.org/officeDocument/2006/relationships/slide" Target="/ppt/slides/slide11.xml" Id="R64d8ad0a708445ca" /><Relationship Type="http://schemas.openxmlformats.org/officeDocument/2006/relationships/slide" Target="/ppt/slides/slide12.xml" Id="R4877c33166374b85" /><Relationship Type="http://schemas.openxmlformats.org/officeDocument/2006/relationships/slide" Target="/ppt/slides/slide13.xml" Id="Rca1e0a4221354b33" /><Relationship Type="http://schemas.openxmlformats.org/officeDocument/2006/relationships/slide" Target="/ppt/slides/slide14.xml" Id="R6db811b7a9f344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0cf30493f84e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36440050ed44dd" /><Relationship Type="http://schemas.openxmlformats.org/officeDocument/2006/relationships/notesMaster" Target="/ppt/notesMasters/notesMaster1.xml" Id="R7c4832faacc248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96cf107d6b443e" /><Relationship Type="http://schemas.openxmlformats.org/officeDocument/2006/relationships/notesMaster" Target="/ppt/notesMasters/notesMaster1.xml" Id="Rcfb55cb7095f48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2bec225124472e" /><Relationship Type="http://schemas.openxmlformats.org/officeDocument/2006/relationships/notesMaster" Target="/ppt/notesMasters/notesMaster1.xml" Id="R0620f9f6182e42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8f8c4a6a5849cb" /><Relationship Type="http://schemas.openxmlformats.org/officeDocument/2006/relationships/notesMaster" Target="/ppt/notesMasters/notesMaster1.xml" Id="Rf8c8b5f586a247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5dd5348a8340ad" /><Relationship Type="http://schemas.openxmlformats.org/officeDocument/2006/relationships/notesMaster" Target="/ppt/notesMasters/notesMaster1.xml" Id="R3a32e2e56aa748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ee0c59fbd54a0b" /><Relationship Type="http://schemas.openxmlformats.org/officeDocument/2006/relationships/notesMaster" Target="/ppt/notesMasters/notesMaster1.xml" Id="R434c1b22613c47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b3af361490465a" /><Relationship Type="http://schemas.openxmlformats.org/officeDocument/2006/relationships/notesMaster" Target="/ppt/notesMasters/notesMaster1.xml" Id="R9df7d69caf1b44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b4add53bc1445c" /><Relationship Type="http://schemas.openxmlformats.org/officeDocument/2006/relationships/notesMaster" Target="/ppt/notesMasters/notesMaster1.xml" Id="R269ffff90ce144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187daa21a143d8" /><Relationship Type="http://schemas.openxmlformats.org/officeDocument/2006/relationships/notesMaster" Target="/ppt/notesMasters/notesMaster1.xml" Id="Raf3c1920449c42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9fd55f3be442a4" /><Relationship Type="http://schemas.openxmlformats.org/officeDocument/2006/relationships/notesMaster" Target="/ppt/notesMasters/notesMaster1.xml" Id="R8ed7d7a8215f4a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53cde5563d45e7" /><Relationship Type="http://schemas.openxmlformats.org/officeDocument/2006/relationships/notesMaster" Target="/ppt/notesMasters/notesMaster1.xml" Id="R5b350f15dc0d4f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df59e0672842c3" /><Relationship Type="http://schemas.openxmlformats.org/officeDocument/2006/relationships/notesMaster" Target="/ppt/notesMasters/notesMaster1.xml" Id="Rc11be00776e744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8c995503fd4fe9" /><Relationship Type="http://schemas.openxmlformats.org/officeDocument/2006/relationships/notesMaster" Target="/ppt/notesMasters/notesMaster1.xml" Id="R427b7842f6b745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a9d0987fa641b2" /><Relationship Type="http://schemas.openxmlformats.org/officeDocument/2006/relationships/notesMaster" Target="/ppt/notesMasters/notesMaster1.xml" Id="Rb00f81af91e742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Analysts. Quantify Case Competition 2026. Names preserved from the supplied Second Round with Appendix cover. Original artwork: OpenAI image generation, created for Team Analysts, August 2026. The illustrated people are not portraits of the named team. This portfolio revision shortens the presentation and adds reproducible analysis. No new presentation date is introduced.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develop Option B for verified existing SMEs through E&amp;O and Technology Products, with narrow scope and explicit gates. Months 0–3 are a defined capability-building period, not a commitment to bind. If customers will not pay the technical price, wording is unclear, or capacity/operations fail, retain Option C with a review date. A narrow standalone product remains possible later. The structure itself does not make risk safe.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2025 exact ratios: CGL 77.4672%, Technology Products 79.7583%, E&amp;O 81.8041%, Commercial Auto 84.2669%, Cyber 97.6365%. Company combined ratio is 84.0032%, calculated from aggregate dollars. Underwriting profit is CAD 133.4486M. Traditional lines contribute about 68.0% of 2025 profit. E&amp;O/Technology margins support platform selection, not AI risk prices. Capital, reserve adequacy and reinsurance capacity are not 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Means in CAD millions and group counts: Hallucinated Output .15175 (36), Misinformation .58526 (19), Algorithmic Bias 2.79223 (26), Cyber Exploitation 3.67147 (17), Privacy/Security 4.11993 (28), Autonomous System Failure 19.90178 (9). Nine autonomous failures total CAD 179.116M, 40.154% of CAD 446.07M total. Full-sample mean is CAD 3.304M, median CAD 2.079M. These are selected external estimated losses, not frequencies, policy payouts or maximum possible losses.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candidate descriptive group contains 28 incidents: 22 supervised hallucination with mean CAD 145,181.82, and 6 supervised misinformation with mean CAD 250,000. Combined mean CAD 167,642.86 and observed maximum CAD 342,000. It is a selected incident subgroup, not 28 covered TSI claims. Exclude or refer mismatched roles, bodily injury, IP, penalties, privacy/cyber and autonomous consequential actions. Four of nine autonomous failures also show oversight=Yes, so autonomy and supervision must be separately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professional error caused by AI may already fall within E&amp;O, depending on wording. The incremental promise must be identified before an additional charge. The proposed endorsement should affirm specified disclosed uses, define applicable limits, resolve defence arrangements and require material-change reporting. Existing policy wording is not supplied, so this table lists design decisions rather than claiming a verified coverage gap. Claims-made/occurrence, retroactive dates, known circumstances, related claims, counsel/settlement and reinsurance must also be 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is a standalone product structure, not an obligation to insure all AI uses. Both A and B can use limits, exclusions and renewal review. B may use lower implementation and channel costs because TSI already knows SME customers, but these costs are not quantified in the case. C means active capability development, including customer discovery, shadow underwriting, incident study, controls and reinsurance negotiation. It lacks new-product insured-claims learning but has nonzero learning value. Choose B after launch gates, C if gates fail, and revisit A when distinct demand justifies separate product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economics, not case observations or a quote: 100 full policy-years, CAD 5,000 annual premium, 25% variable costs, CAD 100,000 fixed costs, CAD 100,000 mean covered cost including defence. At annual claims per policy of 1%, 2%, 3%, combined ratios are 65%,85%,105% and profits CAD 175k,75k,-25k. Break-even frequency is 2.75%; a 10% underwriting margin reduces it to 2.25%. Separate reinsurance, taxes, investment return and capital charges are omitted. The source incident mean is not substituted for contractual covered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deterministic common-vendor stress, not an expected-loss or probabilistic capital model. At CAD 250,000 covered cost per affected policy, 5,10,20 policies cost CAD 1.25M,2.5M,5M before any applicable recoveries. Track shared vendor/model versions, affected clients and policy limits. Compare stresses with approved capital/risk budgets and treaty response. Policy limits do not themselves diversify common dependencies. Distinguish deployed limits, expected loss, gross stress and net capital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Months 0–3 prepare with customer demand, technical pricing and policy mapping. Months 3–6 bind selected verified uses after legal, capital, reinsurance and claims/data sign-off. Monitor control drift, notifications, defence costs and common dependencies monthly/quarterly. The earliest first annual renewal is Month 15, not Month 12 from project inception. Use it to judge continuation and future terms. Expansion requires sufficiently mature loss and reserve evidence, not a zero-claim first year. Stopping new business does not extinguish already incurred obligations.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are recalculated from premium, claim count, losses, expenses and exposure. Company ratios use dollar weighting. Source exposure units may differ across lines, so no combined customer count or company claim frequency is inferred. Operating underwriting results exclude investment return. All original case years are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sequential order industry/failure type/oversight gives 22.2428%,71.1363%,1.6299%,residual4.9910% of total log variance. Failure type first gives93.0609%,industry .3182%,oversight1.6299%,same residual. Industry unique extra sum of squares after the other factors is .2739% of total variance. Oversight beta=-.429751,exp(beta)=.650671, a conditional geometric-mean association rather than a causal reduction or automatic premium discount. Random five-fold log-loss R²~93.6% is within-sample validation, not temporal or insured-claims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Years2021–2025: earned premiums606.4332,582.5165,623.1384,843.3967,834.2218M; underwriting profits104.8819,92.1796,95.5188,131.7034,133.4486M; combined ratios82.7051%,84.1756%,84.6713%,84.3842%,84.0032%. 2025 premium falls1.0879% from2024. Commercial Auto contributes73.7015% of net premium growth2021–2025. Cyber loss ratio rises from58.22% to69.64% while expense ratio remains28%. Premium per exposure is a rate-and-mix proxy.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Quantify Case Study2026 and combined Exhibits A–C. Geneva Association, Gen AI Risks for Businesses(2025), Figure14: six markets exclude Canada and values are indexed. HSB press release2026-03-18: SME partner-policy model; coverage is broader than the proposed scope. Coalition affirmative AI endorsement: Cyber-policy context in U.S. surplus and Canada. Statistics Canada expected AI use Q32025 footnote3: current and planned users can overlap. Progressive Homes v Lombard2010 SCC33: potential coverage can trigger duty to defend, depending on wording and pleadings. Original deck DAIL extraction date Aug.2,2026 and artwork creation August2026 preserved. The128 AIID/CSET and477 DAIL raw extracts were not supplied. Their numerical percentages are excluded from revised findings. Links in docs/sources.md: https://www.genevaassociation.org/publication/digital-ai-transformation/gen-ai-risks-businesses-exploring-role-insurance-0 ; https://www.munichre.com/hsb/en/press-and-publications/press-releases/2026/2026-03-18-introducing-ai-liability-insurance-for-small-businesses.html ; https://www.coalitioninc.com/announcements/coalition-adds-new-affirmative-ai-endorsement-to-cyber-policies ; https://www150.statcan.gc.ca/n1/pub/11-621-m/11-621-m2025011-eng.pdf ; https://decisions.scc-csc.ca/scc-csc/scc-csc/en/item/7874/index.do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c6a72c7e1c48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9f09ea02da49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94760e24a242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7113c43b2b48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f78fce0fd140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dcdbce310f49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E31373-A1E2-41D4-8A30-2B3CE22A52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CA1C29-B1C6-4E5C-92C0-F6D1A558BE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25C2FC-1801-44A0-9ECB-4F3B7834A0E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F061ED-6AAE-4B60-9BC1-DD68DF7274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18FF0B-BFC5-47A3-B159-828D9A7A02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8259465-7974-4427-8452-3093B9557A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E6407-8C13-46DB-9B32-1A4261AD3C7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889EAB-728C-40CB-B1EA-CA33F64F6D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4A766F-372F-4BBF-A13B-E73A015ECA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D355C1-59D8-4C56-8352-25F378A9A2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b61179dc7e4473" /><Relationship Type="http://schemas.openxmlformats.org/officeDocument/2006/relationships/slideLayout" Target="/ppt/slideLayouts/slideLayout1.xml" Id="R11e5492ad91c4a6a" /><Relationship Type="http://schemas.openxmlformats.org/officeDocument/2006/relationships/slideLayout" Target="/ppt/slideLayouts/slideLayout2.xml" Id="R4c68fdbb4c0d45a8" /><Relationship Type="http://schemas.openxmlformats.org/officeDocument/2006/relationships/slideLayout" Target="/ppt/slideLayouts/slideLayout3.xml" Id="Rdd5096de01b64ad8" /><Relationship Type="http://schemas.openxmlformats.org/officeDocument/2006/relationships/slideLayout" Target="/ppt/slideLayouts/slideLayout4.xml" Id="R0818b90990f5431b" /><Relationship Type="http://schemas.openxmlformats.org/officeDocument/2006/relationships/slideLayout" Target="/ppt/slideLayouts/slideLayout5.xml" Id="Rc0c12fa0e2fe486e" /><Relationship Type="http://schemas.openxmlformats.org/officeDocument/2006/relationships/slideLayout" Target="/ppt/slideLayouts/slideLayout6.xml" Id="Rf41f528fa58c4b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e5492ad91c4a6a"/>
    <p:sldLayoutId xmlns:r="http://schemas.openxmlformats.org/officeDocument/2006/relationships" id="2147483650" r:id="R4c68fdbb4c0d45a8"/>
    <p:sldLayoutId xmlns:r="http://schemas.openxmlformats.org/officeDocument/2006/relationships" id="2147483651" r:id="Rdd5096de01b64ad8"/>
    <p:sldLayoutId xmlns:r="http://schemas.openxmlformats.org/officeDocument/2006/relationships" id="2147483652" r:id="R0818b90990f5431b"/>
    <p:sldLayoutId xmlns:r="http://schemas.openxmlformats.org/officeDocument/2006/relationships" id="2147483653" r:id="Rc0c12fa0e2fe486e"/>
    <p:sldLayoutId xmlns:r="http://schemas.openxmlformats.org/officeDocument/2006/relationships" id="2147483654" r:id="Rf41f528fa58c4b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852a17ac8f4474c" /><Relationship Type="http://schemas.openxmlformats.org/officeDocument/2006/relationships/image" Target="/ppt/media/image.png" Id="R8e44853f97584d64" /><Relationship Type="http://schemas.openxmlformats.org/officeDocument/2006/relationships/notesSlide" Target="/ppt/notesSlides/notesSlide1.xml" Id="R4f611ef3660946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3c49fe23954c6f" /><Relationship Type="http://schemas.openxmlformats.org/officeDocument/2006/relationships/notesSlide" Target="/ppt/notesSlides/notesSlide2.xml" Id="R938820ccd0c442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33de6b5dbb4e76" /><Relationship Type="http://schemas.openxmlformats.org/officeDocument/2006/relationships/chart" Target="/ppt/slides/charts/chart1.xml" Id="R9a257ab7d0744d3c" /><Relationship Type="http://schemas.openxmlformats.org/officeDocument/2006/relationships/notesSlide" Target="/ppt/notesSlides/notesSlide3.xml" Id="Rb93ce258cd0442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1250c65ea3e4240" /><Relationship Type="http://schemas.openxmlformats.org/officeDocument/2006/relationships/chart" Target="/ppt/slides/charts/chart2.xml" Id="R039b3c127fe74cfe" /><Relationship Type="http://schemas.openxmlformats.org/officeDocument/2006/relationships/notesSlide" Target="/ppt/notesSlides/notesSlide4.xml" Id="R652959cc24b94a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6a9a25782e34899" /><Relationship Type="http://schemas.openxmlformats.org/officeDocument/2006/relationships/chart" Target="/ppt/slides/charts/chart3.xml" Id="R5d22a4a937d74efa" /><Relationship Type="http://schemas.openxmlformats.org/officeDocument/2006/relationships/notesSlide" Target="/ppt/notesSlides/notesSlide5.xml" Id="R590da3c0767b44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15c5dcde0b4c89" /><Relationship Type="http://schemas.openxmlformats.org/officeDocument/2006/relationships/notesSlide" Target="/ppt/notesSlides/notesSlide6.xml" Id="R039411434fd848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b4b50fda12d4c84" /><Relationship Type="http://schemas.openxmlformats.org/officeDocument/2006/relationships/notesSlide" Target="/ppt/notesSlides/notesSlide7.xml" Id="Rc400cf20b8fe40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f3c6ec5f334571" /><Relationship Type="http://schemas.openxmlformats.org/officeDocument/2006/relationships/chart" Target="/ppt/slides/charts/chart4.xml" Id="Ra1dd3020b7534ff3" /><Relationship Type="http://schemas.openxmlformats.org/officeDocument/2006/relationships/notesSlide" Target="/ppt/notesSlides/notesSlide8.xml" Id="Re6b9753d9c6942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6819c35b6484b2f" /><Relationship Type="http://schemas.openxmlformats.org/officeDocument/2006/relationships/chart" Target="/ppt/slides/charts/chart5.xml" Id="R2b527a42564042d9" /><Relationship Type="http://schemas.openxmlformats.org/officeDocument/2006/relationships/notesSlide" Target="/ppt/notesSlides/notesSlide9.xml" Id="R10b9117d162d49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57f97c8934b454e" /><Relationship Type="http://schemas.openxmlformats.org/officeDocument/2006/relationships/notesSlide" Target="/ppt/notesSlides/notesSlide10.xml" Id="Rfadf1cd718244a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3fa776ca06945f4" /><Relationship Type="http://schemas.openxmlformats.org/officeDocument/2006/relationships/notesSlide" Target="/ppt/notesSlides/notesSlide11.xml" Id="Rc8da9f75250e43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bc8445401644b97" /><Relationship Type="http://schemas.openxmlformats.org/officeDocument/2006/relationships/chart" Target="/ppt/slides/charts/chart6.xml" Id="Rd242673de2f64863" /><Relationship Type="http://schemas.openxmlformats.org/officeDocument/2006/relationships/notesSlide" Target="/ppt/notesSlides/notesSlide12.xml" Id="Re325ee59c1634b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edfdfd59a9545ba" /><Relationship Type="http://schemas.openxmlformats.org/officeDocument/2006/relationships/notesSlide" Target="/ppt/notesSlides/notesSlide13.xml" Id="R2543ebd8246d4fe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0a0222b60f842fb" /><Relationship Type="http://schemas.openxmlformats.org/officeDocument/2006/relationships/notesSlide" Target="/ppt/notesSlides/notesSlide14.xml" Id="R7ddf8742e5fe4fb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2025 combined ratio</c:v>
          </c:tx>
          <c:spPr>
            <a:solidFill xmlns:a="http://schemas.openxmlformats.org/drawingml/2006/main">
              <a:srgbClr val="087F8C"/>
            </a:solidFill>
          </c:spPr>
          <c:invertIfNegative val="0"/>
          <c:dPt>
            <c:idx val="4"/>
            <c:invertIfNegative val="0"/>
            <c:spPr>
              <a:solidFill xmlns:a="http://schemas.openxmlformats.org/drawingml/2006/main">
                <a:srgbClr val="C75653"/>
              </a:solidFill>
            </c:spPr>
          </c:dPt>
          <c:cat>
            <c:strRef>
              <c:f>'Chart Data'!$A$2:$A$6</c:f>
              <c:strCache>
                <c:ptCount val="5"/>
                <c:pt idx="0">
                  <c:v>CGL</c:v>
                </c:pt>
                <c:pt idx="1">
                  <c:v>Technology Products</c:v>
                </c:pt>
                <c:pt idx="2">
                  <c:v>E&amp;O</c:v>
                </c:pt>
                <c:pt idx="3">
                  <c:v>Commercial Auto</c:v>
                </c:pt>
                <c:pt idx="4">
                  <c:v>Cyber</c:v>
                </c:pt>
              </c:strCache>
            </c:strRef>
          </c:cat>
          <c:val>
            <c:numRef>
              <c:f>'Chart Data'!$B$2:$B$6</c:f>
              <c:numCache>
                <c:formatCode>0%</c:formatCode>
                <c:ptCount val="5"/>
                <c:pt idx="0">
                  <c:v>0.7746721803</c:v>
                </c:pt>
                <c:pt idx="1">
                  <c:v>0.7975830366</c:v>
                </c:pt>
                <c:pt idx="2">
                  <c:v>0.8180408139</c:v>
                </c:pt>
                <c:pt idx="3">
                  <c:v>0.8426685904</c:v>
                </c:pt>
                <c:pt idx="4">
                  <c:v>0.9763649374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42A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72768"/>
      </c:catAx>
      <c:valAx>
        <c:axId val="48672768"/>
        <c:scaling>
          <c:orientation val="minMax"/>
          <c:max val="1.12"/>
          <c:min val="0"/>
        </c:scaling>
        <c:delete val="0"/>
        <c:axPos val="b"/>
        <c:majorGridlines>
          <c:spPr>
            <a:ln xmlns:a="http://schemas.openxmlformats.org/drawingml/2006/main" w="9525">
              <a:solidFill>
                <a:srgbClr val="DCE2E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50112"/>
        <c:crossBetween val="between"/>
      </c:valAx>
      <c:spPr>
        <a:solidFill xmlns:a="http://schemas.openxmlformats.org/drawingml/2006/main">
          <a:srgbClr val="F5F3EF"/>
        </a:solidFill>
        <a:ln xmlns:a="http://schemas.openxmlformats.org/drawingml/2006/main" w="0">
          <a:noFill/>
        </a:ln>
      </c:spPr>
    </c:plotArea>
    <c:plotVisOnly val="1"/>
  </c:chart>
  <c:spPr>
    <a:solidFill xmlns:a="http://schemas.openxmlformats.org/drawingml/2006/main">
      <a:srgbClr val="F5F3E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estimated loss, CAD millions</c:v>
          </c:tx>
          <c:spPr>
            <a:solidFill xmlns:a="http://schemas.openxmlformats.org/drawingml/2006/main">
              <a:srgbClr val="087F8C"/>
            </a:solidFill>
          </c:spPr>
          <c:invertIfNegative val="0"/>
          <c:dPt>
            <c:idx val="5"/>
            <c:invertIfNegative val="0"/>
            <c:spPr>
              <a:solidFill xmlns:a="http://schemas.openxmlformats.org/drawingml/2006/main">
                <a:srgbClr val="C75653"/>
              </a:solidFill>
            </c:spPr>
          </c:dPt>
          <c:cat>
            <c:strRef>
              <c:f>'Chart Data'!$A$2:$A$7</c:f>
              <c:strCache>
                <c:ptCount val="6"/>
                <c:pt idx="0">
                  <c:v>Hallucination (36)</c:v>
                </c:pt>
                <c:pt idx="1">
                  <c:v>Misinformation (19)</c:v>
                </c:pt>
                <c:pt idx="2">
                  <c:v>Algorithmic bias (26)</c:v>
                </c:pt>
                <c:pt idx="3">
                  <c:v>AI cyber exploitation (17)</c:v>
                </c:pt>
                <c:pt idx="4">
                  <c:v>Privacy / security (28)</c:v>
                </c:pt>
                <c:pt idx="5">
                  <c:v>Autonomous failure (9)</c:v>
                </c:pt>
              </c:strCache>
            </c:strRef>
          </c:cat>
          <c:val>
            <c:numRef>
              <c:f>'Chart Data'!$B$2:$B$7</c:f>
              <c:numCache>
                <c:formatCode>0.0</c:formatCode>
                <c:ptCount val="6"/>
                <c:pt idx="0">
                  <c:v>0.15175</c:v>
                </c:pt>
                <c:pt idx="1">
                  <c:v>0.5852632</c:v>
                </c:pt>
                <c:pt idx="2">
                  <c:v>2.7922308</c:v>
                </c:pt>
                <c:pt idx="3">
                  <c:v>3.6714706</c:v>
                </c:pt>
                <c:pt idx="4">
                  <c:v>4.1199286</c:v>
                </c:pt>
                <c:pt idx="5">
                  <c:v>19.9017778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142A3D"/>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72768"/>
      </c:catAx>
      <c:valAx>
        <c:axId val="48672768"/>
        <c:scaling>
          <c:orientation val="minMax"/>
          <c:max val="24"/>
          <c:min val="0"/>
        </c:scaling>
        <c:delete val="0"/>
        <c:axPos val="b"/>
        <c:majorGridlines>
          <c:spPr>
            <a:ln xmlns:a="http://schemas.openxmlformats.org/drawingml/2006/main" w="9525">
              <a:solidFill>
                <a:srgbClr val="DCE2E2"/>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50112"/>
        <c:crossBetween val="between"/>
      </c:valAx>
      <c:spPr>
        <a:solidFill xmlns:a="http://schemas.openxmlformats.org/drawingml/2006/main">
          <a:srgbClr val="F5F3EF"/>
        </a:solidFill>
        <a:ln xmlns:a="http://schemas.openxmlformats.org/drawingml/2006/main" w="0">
          <a:noFill/>
        </a:ln>
      </c:spPr>
    </c:plotArea>
    <c:plotVisOnly val="1"/>
  </c:chart>
  <c:spPr>
    <a:solidFill xmlns:a="http://schemas.openxmlformats.org/drawingml/2006/main">
      <a:srgbClr val="F5F3E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estimated loss, CAD thousands</c:v>
          </c:tx>
          <c:spPr>
            <a:solidFill xmlns:a="http://schemas.openxmlformats.org/drawingml/2006/main">
              <a:srgbClr val="087F8C"/>
            </a:solidFill>
          </c:spPr>
          <c:invertIfNegative val="0"/>
          <c:cat>
            <c:strRef>
              <c:f>'Chart Data'!$A$2:$A$3</c:f>
              <c:strCache>
                <c:ptCount val="2"/>
                <c:pt idx="0">
                  <c:v>Hallucination (n=22)</c:v>
                </c:pt>
                <c:pt idx="1">
                  <c:v>Misinformation (n=6)</c:v>
                </c:pt>
              </c:strCache>
            </c:strRef>
          </c:cat>
          <c:val>
            <c:numRef>
              <c:f>'Chart Data'!$B$2:$B$3</c:f>
              <c:numCache>
                <c:formatCode>0</c:formatCode>
                <c:ptCount val="2"/>
                <c:pt idx="0">
                  <c:v>145.181818</c:v>
                </c:pt>
                <c:pt idx="1">
                  <c:v>250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solidFill>
                    <a:srgbClr val="142A3D"/>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72768"/>
      </c:catAx>
      <c:valAx>
        <c:axId val="48672768"/>
        <c:scaling>
          <c:orientation val="minMax"/>
          <c:max val="320"/>
          <c:min val="0"/>
        </c:scaling>
        <c:delete val="0"/>
        <c:axPos val="l"/>
        <c:majorGridlines>
          <c:spPr>
            <a:ln xmlns:a="http://schemas.openxmlformats.org/drawingml/2006/main" w="9525">
              <a:solidFill>
                <a:srgbClr val="DCE2E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50112"/>
        <c:crossBetween val="between"/>
      </c:valAx>
      <c:spPr>
        <a:solidFill xmlns:a="http://schemas.openxmlformats.org/drawingml/2006/main">
          <a:srgbClr val="F5F3EF"/>
        </a:solidFill>
        <a:ln xmlns:a="http://schemas.openxmlformats.org/drawingml/2006/main" w="0">
          <a:noFill/>
        </a:ln>
      </c:spPr>
    </c:plotArea>
    <c:plotVisOnly val="1"/>
  </c:chart>
  <c:spPr>
    <a:solidFill xmlns:a="http://schemas.openxmlformats.org/drawingml/2006/main">
      <a:srgbClr val="F5F3E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Pilot combined ratio</c:v>
          </c:tx>
          <c:spPr>
            <a:ln xmlns:a="http://schemas.openxmlformats.org/drawingml/2006/main" w="38100">
              <a:solidFill>
                <a:srgbClr val="087F8C"/>
              </a:solidFill>
            </a:ln>
          </c:spPr>
          <c:marker>
            <c:symbol val="circle"/>
            <c:size val="10"/>
            <c:spPr>
              <a:solidFill xmlns:a="http://schemas.openxmlformats.org/drawingml/2006/main">
                <a:srgbClr val="087F8C"/>
              </a:solidFill>
            </c:spPr>
          </c:marker>
          <c:cat>
            <c:strRef>
              <c:f>'Chart Data'!$A$2:$A$4</c:f>
              <c:strCache>
                <c:ptCount val="3"/>
                <c:pt idx="0">
                  <c:v>1%</c:v>
                </c:pt>
                <c:pt idx="1">
                  <c:v>2%</c:v>
                </c:pt>
                <c:pt idx="2">
                  <c:v>3%</c:v>
                </c:pt>
              </c:strCache>
            </c:strRef>
          </c:cat>
          <c:val>
            <c:numRef>
              <c:f>'Chart Data'!$B$2:$B$4</c:f>
              <c:numCache>
                <c:formatCode>0%</c:formatCode>
                <c:ptCount val="3"/>
                <c:pt idx="0">
                  <c:v>0.65</c:v>
                </c:pt>
                <c:pt idx="1">
                  <c:v>0.85</c:v>
                </c:pt>
                <c:pt idx="2">
                  <c:v>1.05</c:v>
                </c:pt>
              </c:numCache>
            </c:numRef>
          </c:val>
        </c:ser>
        <c:ser>
          <c:idx val="1"/>
          <c:order val="1"/>
          <c:tx>
            <c:v>Break-even</c:v>
          </c:tx>
          <c:spPr>
            <a:ln xmlns:a="http://schemas.openxmlformats.org/drawingml/2006/main" w="9525">
              <a:solidFill>
                <a:srgbClr val="627584"/>
              </a:solidFill>
            </a:ln>
          </c:spPr>
          <c:marker>
            <c:symbol val="none"/>
          </c:marker>
          <c:dLbls>
            <c:showLegendKey val="0"/>
            <c:showVal val="0"/>
            <c:showCatName val="0"/>
            <c:showSerName val="0"/>
            <c:showPercent val="0"/>
            <c:showBubbleSize val="0"/>
            <c:showLeaderLines val="0"/>
          </c:dLbls>
          <c:cat>
            <c:strRef>
              <c:f>'Chart Data'!$C$2:$C$4</c:f>
              <c:strCache>
                <c:ptCount val="3"/>
                <c:pt idx="0">
                  <c:v>1%</c:v>
                </c:pt>
                <c:pt idx="1">
                  <c:v>2%</c:v>
                </c:pt>
                <c:pt idx="2">
                  <c:v>3%</c:v>
                </c:pt>
              </c:strCache>
            </c:strRef>
          </c:cat>
          <c:val>
            <c:numRef>
              <c:f>'Chart Data'!$D$2:$D$4</c:f>
              <c:numCache>
                <c:formatCode>0%</c:formatCode>
                <c:ptCount val="3"/>
                <c:pt idx="0">
                  <c:v>1</c:v>
                </c:pt>
                <c:pt idx="1">
                  <c:v>1</c:v>
                </c:pt>
                <c:pt idx="2">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solidFill>
                    <a:srgbClr val="142A3D"/>
                  </a:solidFill>
                  <a:latin typeface="Arial"/>
                  <a:ea typeface="Arial"/>
                  <a:cs typeface="Arial"/>
                </a:defRPr>
              </a:pPr>
            </a:p>
          </c:txPr>
          <c:dLblPos val="t"/>
          <c:showLegendKey val="0"/>
          <c:showVal val="1"/>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627584"/>
                    </a:solidFill>
                    <a:latin typeface="Arial"/>
                    <a:ea typeface="Arial"/>
                    <a:cs typeface="Arial"/>
                  </a:rPr>
                  <a:t>Annual claims per policy</a:t>
                </a:r>
              </a:p>
            </c:rich>
          </c:tx>
          <c:overlay val="0"/>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72768"/>
      </c:catAx>
      <c:valAx>
        <c:axId val="48672768"/>
        <c:scaling>
          <c:orientation val="minMax"/>
          <c:max val="1.2"/>
          <c:min val="0.4"/>
        </c:scaling>
        <c:delete val="0"/>
        <c:axPos val="l"/>
        <c:majorGridlines>
          <c:spPr>
            <a:ln xmlns:a="http://schemas.openxmlformats.org/drawingml/2006/main" w="9525">
              <a:solidFill>
                <a:srgbClr val="DCE2E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50112"/>
        <c:crossBetween val="between"/>
      </c:valAx>
      <c:spPr>
        <a:solidFill xmlns:a="http://schemas.openxmlformats.org/drawingml/2006/main">
          <a:srgbClr val="F5F3EF"/>
        </a:solidFill>
        <a:ln xmlns:a="http://schemas.openxmlformats.org/drawingml/2006/main" w="0">
          <a:noFill/>
        </a:ln>
      </c:spPr>
    </c:plotArea>
    <c:plotVisOnly val="1"/>
  </c:chart>
  <c:spPr>
    <a:solidFill xmlns:a="http://schemas.openxmlformats.org/drawingml/2006/main">
      <a:srgbClr val="F5F3E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Gross stress cost, CAD millions</c:v>
          </c:tx>
          <c:spPr>
            <a:solidFill xmlns:a="http://schemas.openxmlformats.org/drawingml/2006/main">
              <a:srgbClr val="087F8C"/>
            </a:solidFill>
          </c:spPr>
          <c:invertIfNegative val="0"/>
          <c:dPt>
            <c:idx val="2"/>
            <c:invertIfNegative val="0"/>
            <c:spPr>
              <a:solidFill xmlns:a="http://schemas.openxmlformats.org/drawingml/2006/main">
                <a:srgbClr val="C75653"/>
              </a:solidFill>
            </c:spPr>
          </c:dPt>
          <c:cat>
            <c:strRef>
              <c:f>'Chart Data'!$A$2:$A$4</c:f>
              <c:strCache>
                <c:ptCount val="3"/>
                <c:pt idx="0">
                  <c:v>5 policies</c:v>
                </c:pt>
                <c:pt idx="1">
                  <c:v>10 policies</c:v>
                </c:pt>
                <c:pt idx="2">
                  <c:v>20 policies</c:v>
                </c:pt>
              </c:strCache>
            </c:strRef>
          </c:cat>
          <c:val>
            <c:numRef>
              <c:f>'Chart Data'!$B$2:$B$4</c:f>
              <c:numCache>
                <c:formatCode>0.0</c:formatCode>
                <c:ptCount val="3"/>
                <c:pt idx="0">
                  <c:v>1.25</c:v>
                </c:pt>
                <c:pt idx="1">
                  <c:v>2.5</c:v>
                </c:pt>
                <c:pt idx="2">
                  <c:v>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142A3D"/>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DCE2E2"/>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50112"/>
        <c:crossBetween val="between"/>
      </c:valAx>
      <c:spPr>
        <a:solidFill xmlns:a="http://schemas.openxmlformats.org/drawingml/2006/main">
          <a:srgbClr val="F5F3EF"/>
        </a:solidFill>
        <a:ln xmlns:a="http://schemas.openxmlformats.org/drawingml/2006/main" w="0">
          <a:noFill/>
        </a:ln>
      </c:spPr>
    </c:plotArea>
    <c:plotVisOnly val="1"/>
  </c:chart>
  <c:spPr>
    <a:solidFill xmlns:a="http://schemas.openxmlformats.org/drawingml/2006/main">
      <a:srgbClr val="F5F3E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Industry</c:v>
          </c:tx>
          <c:spPr>
            <a:solidFill xmlns:a="http://schemas.openxmlformats.org/drawingml/2006/main">
              <a:srgbClr val="86B5C0"/>
            </a:solidFill>
          </c:spPr>
          <c:invertIfNegative val="0"/>
          <c:cat>
            <c:strRef>
              <c:f>'Chart Data'!$A$2:$A$3</c:f>
              <c:strCache>
                <c:ptCount val="2"/>
                <c:pt idx="0">
                  <c:v>Industry enters first</c:v>
                </c:pt>
                <c:pt idx="1">
                  <c:v>Failure type enters first</c:v>
                </c:pt>
              </c:strCache>
            </c:strRef>
          </c:cat>
          <c:val>
            <c:numRef>
              <c:f>'Chart Data'!$B$2:$B$3</c:f>
              <c:numCache>
                <c:formatCode>0%</c:formatCode>
                <c:ptCount val="2"/>
                <c:pt idx="0">
                  <c:v>0.2224283668</c:v>
                </c:pt>
                <c:pt idx="1">
                  <c:v>0.003181772</c:v>
                </c:pt>
              </c:numCache>
            </c:numRef>
          </c:val>
        </c:ser>
        <c:ser>
          <c:idx val="1"/>
          <c:order val="1"/>
          <c:tx>
            <c:v>Failure type</c:v>
          </c:tx>
          <c:spPr>
            <a:solidFill xmlns:a="http://schemas.openxmlformats.org/drawingml/2006/main">
              <a:srgbClr val="087F8C"/>
            </a:solidFill>
          </c:spPr>
          <c:invertIfNegative val="0"/>
          <c:cat>
            <c:strRef>
              <c:f>'Chart Data'!$C$2:$C$3</c:f>
              <c:strCache>
                <c:ptCount val="2"/>
                <c:pt idx="0">
                  <c:v>Industry enters first</c:v>
                </c:pt>
                <c:pt idx="1">
                  <c:v>Failure type enters first</c:v>
                </c:pt>
              </c:strCache>
            </c:strRef>
          </c:cat>
          <c:val>
            <c:numRef>
              <c:f>'Chart Data'!$D$2:$D$3</c:f>
              <c:numCache>
                <c:formatCode>0%</c:formatCode>
                <c:ptCount val="2"/>
                <c:pt idx="0">
                  <c:v>0.7113628149</c:v>
                </c:pt>
                <c:pt idx="1">
                  <c:v>0.9306094098</c:v>
                </c:pt>
              </c:numCache>
            </c:numRef>
          </c:val>
        </c:ser>
        <c:ser>
          <c:idx val="2"/>
          <c:order val="2"/>
          <c:tx>
            <c:v>Oversight</c:v>
          </c:tx>
          <c:spPr>
            <a:solidFill xmlns:a="http://schemas.openxmlformats.org/drawingml/2006/main">
              <a:srgbClr val="C48C28"/>
            </a:solidFill>
          </c:spPr>
          <c:invertIfNegative val="0"/>
          <c:cat>
            <c:strRef>
              <c:f>'Chart Data'!$E$2:$E$3</c:f>
              <c:strCache>
                <c:ptCount val="2"/>
                <c:pt idx="0">
                  <c:v>Industry enters first</c:v>
                </c:pt>
                <c:pt idx="1">
                  <c:v>Failure type enters first</c:v>
                </c:pt>
              </c:strCache>
            </c:strRef>
          </c:cat>
          <c:val>
            <c:numRef>
              <c:f>'Chart Data'!$F$2:$F$3</c:f>
              <c:numCache>
                <c:formatCode>0%</c:formatCode>
                <c:ptCount val="2"/>
                <c:pt idx="0">
                  <c:v>0.0162989307</c:v>
                </c:pt>
                <c:pt idx="1">
                  <c:v>0.0162989307</c:v>
                </c:pt>
              </c:numCache>
            </c:numRef>
          </c:val>
        </c:ser>
        <c:ser>
          <c:idx val="3"/>
          <c:order val="3"/>
          <c:tx>
            <c:v>Residual</c:v>
          </c:tx>
          <c:spPr>
            <a:solidFill xmlns:a="http://schemas.openxmlformats.org/drawingml/2006/main">
              <a:srgbClr val="D8DFE2"/>
            </a:solidFill>
          </c:spPr>
          <c:invertIfNegative val="0"/>
          <c:cat>
            <c:strRef>
              <c:f>'Chart Data'!$G$2:$G$3</c:f>
              <c:strCache>
                <c:ptCount val="2"/>
                <c:pt idx="0">
                  <c:v>Industry enters first</c:v>
                </c:pt>
                <c:pt idx="1">
                  <c:v>Failure type enters first</c:v>
                </c:pt>
              </c:strCache>
            </c:strRef>
          </c:cat>
          <c:val>
            <c:numRef>
              <c:f>'Chart Data'!$H$2:$H$3</c:f>
              <c:numCache>
                <c:formatCode>0%</c:formatCode>
                <c:ptCount val="2"/>
                <c:pt idx="0">
                  <c:v>0.0499098875</c:v>
                </c:pt>
                <c:pt idx="1">
                  <c:v>0.0499098875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72768"/>
      </c:catAx>
      <c:valAx>
        <c:axId val="48672768"/>
        <c:scaling>
          <c:orientation val="minMax"/>
          <c:max val="1"/>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crossAx val="48650112"/>
        <c:crossBetween val="between"/>
      </c:valAx>
      <c:spPr>
        <a:solidFill xmlns:a="http://schemas.openxmlformats.org/drawingml/2006/main">
          <a:srgbClr val="F5F3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627584"/>
              </a:solidFill>
              <a:latin typeface="Arial"/>
              <a:ea typeface="Arial"/>
              <a:cs typeface="Arial"/>
            </a:defRPr>
          </a:pPr>
        </a:p>
      </c:txPr>
    </c:legend>
    <c:plotVisOnly val="1"/>
  </c:chart>
  <c:spPr>
    <a:solidFill xmlns:a="http://schemas.openxmlformats.org/drawingml/2006/main">
      <a:srgbClr val="F5F3E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FEF7CA0-7D99-4625-BB3E-37E734B10CD7}"/>
              </a:ext>
            </a:extLst>
          </p:cNvPr>
          <p:cNvPicPr>
            <a:picLocks xmlns:a="http://schemas.openxmlformats.org/drawingml/2006/main" noChangeAspect="1"/>
          </p:cNvPicPr>
          <p:nvPr/>
        </p:nvPicPr>
        <p:blipFill>
          <a:blip xmlns:r="http://schemas.openxmlformats.org/officeDocument/2006/relationships" xmlns:a="http://schemas.openxmlformats.org/drawingml/2006/main" r:embed="R8e44853f97584d64"/>
          <a:srcRect xmlns:a="http://schemas.openxmlformats.org/drawingml/2006/main" l="0" t="20818" r="0" b="20818"/>
          <a:stretch xmlns:a="http://schemas.openxmlformats.org/drawingml/2006/main">
            <a:fillRect l="0" t="0" r="0" b="0"/>
          </a:stretch>
        </p:blipFill>
        <p:spPr>
          <a:xfrm xmlns:a="http://schemas.openxmlformats.org/drawingml/2006/main">
            <a:off x="0" y="0"/>
            <a:ext cx="12192000" cy="4000500"/>
          </a:xfrm>
          <a:prstGeom xmlns:a="http://schemas.openxmlformats.org/drawingml/2006/main" prst="rect">
            <a:avLst/>
          </a:prstGeom>
        </p:spPr>
      </p:pic>
      <p:sp>
        <p:nvSpPr>
          <p:cNvPr id="3" name="text-0">
            <a:extLst xmlns:a="http://schemas.openxmlformats.org/drawingml/2006/main">
              <a:ext uri="{FF2B5EF4-FFF2-40B4-BE49-F238E27FC236}">
                <a16:creationId xmlns:a16="http://schemas.microsoft.com/office/drawing/2014/main" id="{361642ED-8C17-4908-8CDA-6D739226ADC2}"/>
              </a:ext>
            </a:extLst>
          </p:cNvPr>
          <p:cNvSpPr>
            <a:spLocks xmlns:a="http://schemas.openxmlformats.org/drawingml/2006/main" noGrp="1"/>
          </p:cNvSpPr>
          <p:nvPr/>
        </p:nvSpPr>
        <p:spPr>
          <a:xfrm xmlns:a="http://schemas.openxmlformats.org/drawingml/2006/main">
            <a:off x="533400" y="43243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42A3D"/>
                </a:solidFill>
                <a:latin typeface="Arial"/>
                <a:ea typeface="Arial"/>
                <a:cs typeface="Arial"/>
              </a:defRPr>
            </a:defPPr>
            <a:lvl1pPr>
              <a:defRPr sz="2850" b="1">
                <a:solidFill>
                  <a:srgbClr val="142A3D"/>
                </a:solidFill>
                <a:latin typeface="Arial"/>
                <a:ea typeface="Arial"/>
                <a:cs typeface="Arial"/>
              </a:defRPr>
            </a:lvl1pPr>
            <a:lvl2pPr>
              <a:defRPr sz="2850" b="1">
                <a:solidFill>
                  <a:srgbClr val="142A3D"/>
                </a:solidFill>
                <a:latin typeface="Arial"/>
                <a:ea typeface="Arial"/>
                <a:cs typeface="Arial"/>
              </a:defRPr>
            </a:lvl2pPr>
            <a:lvl3pPr>
              <a:defRPr sz="2850" b="1">
                <a:solidFill>
                  <a:srgbClr val="142A3D"/>
                </a:solidFill>
                <a:latin typeface="Arial"/>
                <a:ea typeface="Arial"/>
                <a:cs typeface="Arial"/>
              </a:defRPr>
            </a:lvl3pPr>
            <a:lvl4pPr>
              <a:defRPr sz="2850" b="1">
                <a:solidFill>
                  <a:srgbClr val="142A3D"/>
                </a:solidFill>
                <a:latin typeface="Arial"/>
                <a:ea typeface="Arial"/>
                <a:cs typeface="Arial"/>
              </a:defRPr>
            </a:lvl4pPr>
            <a:lvl5pPr>
              <a:defRPr sz="2850" b="1">
                <a:solidFill>
                  <a:srgbClr val="142A3D"/>
                </a:solidFill>
                <a:latin typeface="Arial"/>
                <a:ea typeface="Arial"/>
                <a:cs typeface="Arial"/>
              </a:defRPr>
            </a:lvl5pPr>
            <a:lvl6pPr>
              <a:defRPr sz="2850" b="1">
                <a:solidFill>
                  <a:srgbClr val="142A3D"/>
                </a:solidFill>
                <a:latin typeface="Arial"/>
                <a:ea typeface="Arial"/>
                <a:cs typeface="Arial"/>
              </a:defRPr>
            </a:lvl6pPr>
            <a:lvl7pPr>
              <a:defRPr sz="2850" b="1">
                <a:solidFill>
                  <a:srgbClr val="142A3D"/>
                </a:solidFill>
                <a:latin typeface="Arial"/>
                <a:ea typeface="Arial"/>
                <a:cs typeface="Arial"/>
              </a:defRPr>
            </a:lvl7pPr>
            <a:lvl8pPr>
              <a:defRPr sz="2850" b="1">
                <a:solidFill>
                  <a:srgbClr val="142A3D"/>
                </a:solidFill>
                <a:latin typeface="Arial"/>
                <a:ea typeface="Arial"/>
                <a:cs typeface="Arial"/>
              </a:defRPr>
            </a:lvl8pPr>
            <a:lvl9pPr>
              <a:defRPr sz="2850" b="1">
                <a:solidFill>
                  <a:srgbClr val="142A3D"/>
                </a:solidFill>
                <a:latin typeface="Arial"/>
                <a:ea typeface="Arial"/>
                <a:cs typeface="Arial"/>
              </a:defRPr>
            </a:lvl9pPr>
          </a:lstStyle>
          <a:p xmlns:a="http://schemas.openxmlformats.org/drawingml/2006/main">
            <a:pPr>
              <a:defRPr sz="2850" b="1">
                <a:solidFill>
                  <a:srgbClr val="142A3D"/>
                </a:solidFill>
                <a:latin typeface="Arial"/>
                <a:ea typeface="Arial"/>
                <a:cs typeface="Arial"/>
              </a:defRPr>
            </a:pPr>
            <a:r>
              <a:rPr sz="2850" b="1">
                <a:solidFill>
                  <a:srgbClr val="142A3D"/>
                </a:solidFill>
                <a:latin typeface="Arial"/>
                <a:ea typeface="Arial"/>
                <a:cs typeface="Arial"/>
              </a:rPr>
              <a:t>QUANTIFY CASE COMPETITION 2026</a:t>
            </a:r>
          </a:p>
        </p:txBody>
      </p:sp>
      <p:sp>
        <p:nvSpPr>
          <p:cNvPr id="4" name="text-1">
            <a:extLst xmlns:a="http://schemas.openxmlformats.org/drawingml/2006/main">
              <a:ext uri="{FF2B5EF4-FFF2-40B4-BE49-F238E27FC236}">
                <a16:creationId xmlns:a16="http://schemas.microsoft.com/office/drawing/2014/main" id="{F2D05780-A55D-4770-99BA-45BE90696E4D}"/>
              </a:ext>
            </a:extLst>
          </p:cNvPr>
          <p:cNvSpPr>
            <a:spLocks xmlns:a="http://schemas.openxmlformats.org/drawingml/2006/main" noGrp="1"/>
          </p:cNvSpPr>
          <p:nvPr/>
        </p:nvSpPr>
        <p:spPr>
          <a:xfrm xmlns:a="http://schemas.openxmlformats.org/drawingml/2006/main">
            <a:off x="533400" y="4991100"/>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87F8C"/>
                </a:solidFill>
                <a:latin typeface="Arial"/>
                <a:ea typeface="Arial"/>
                <a:cs typeface="Arial"/>
              </a:defRPr>
            </a:defPPr>
            <a:lvl1pPr>
              <a:defRPr sz="1875" b="1">
                <a:solidFill>
                  <a:srgbClr val="087F8C"/>
                </a:solidFill>
                <a:latin typeface="Arial"/>
                <a:ea typeface="Arial"/>
                <a:cs typeface="Arial"/>
              </a:defRPr>
            </a:lvl1pPr>
            <a:lvl2pPr>
              <a:defRPr sz="1875" b="1">
                <a:solidFill>
                  <a:srgbClr val="087F8C"/>
                </a:solidFill>
                <a:latin typeface="Arial"/>
                <a:ea typeface="Arial"/>
                <a:cs typeface="Arial"/>
              </a:defRPr>
            </a:lvl2pPr>
            <a:lvl3pPr>
              <a:defRPr sz="1875" b="1">
                <a:solidFill>
                  <a:srgbClr val="087F8C"/>
                </a:solidFill>
                <a:latin typeface="Arial"/>
                <a:ea typeface="Arial"/>
                <a:cs typeface="Arial"/>
              </a:defRPr>
            </a:lvl3pPr>
            <a:lvl4pPr>
              <a:defRPr sz="1875" b="1">
                <a:solidFill>
                  <a:srgbClr val="087F8C"/>
                </a:solidFill>
                <a:latin typeface="Arial"/>
                <a:ea typeface="Arial"/>
                <a:cs typeface="Arial"/>
              </a:defRPr>
            </a:lvl4pPr>
            <a:lvl5pPr>
              <a:defRPr sz="1875" b="1">
                <a:solidFill>
                  <a:srgbClr val="087F8C"/>
                </a:solidFill>
                <a:latin typeface="Arial"/>
                <a:ea typeface="Arial"/>
                <a:cs typeface="Arial"/>
              </a:defRPr>
            </a:lvl5pPr>
            <a:lvl6pPr>
              <a:defRPr sz="1875" b="1">
                <a:solidFill>
                  <a:srgbClr val="087F8C"/>
                </a:solidFill>
                <a:latin typeface="Arial"/>
                <a:ea typeface="Arial"/>
                <a:cs typeface="Arial"/>
              </a:defRPr>
            </a:lvl6pPr>
            <a:lvl7pPr>
              <a:defRPr sz="1875" b="1">
                <a:solidFill>
                  <a:srgbClr val="087F8C"/>
                </a:solidFill>
                <a:latin typeface="Arial"/>
                <a:ea typeface="Arial"/>
                <a:cs typeface="Arial"/>
              </a:defRPr>
            </a:lvl7pPr>
            <a:lvl8pPr>
              <a:defRPr sz="1875" b="1">
                <a:solidFill>
                  <a:srgbClr val="087F8C"/>
                </a:solidFill>
                <a:latin typeface="Arial"/>
                <a:ea typeface="Arial"/>
                <a:cs typeface="Arial"/>
              </a:defRPr>
            </a:lvl8pPr>
            <a:lvl9pPr>
              <a:defRPr sz="1875" b="1">
                <a:solidFill>
                  <a:srgbClr val="087F8C"/>
                </a:solidFill>
                <a:latin typeface="Arial"/>
                <a:ea typeface="Arial"/>
                <a:cs typeface="Arial"/>
              </a:defRPr>
            </a:lvl9pPr>
          </a:lstStyle>
          <a:p xmlns:a="http://schemas.openxmlformats.org/drawingml/2006/main">
            <a:pPr>
              <a:defRPr sz="1875" b="1">
                <a:solidFill>
                  <a:srgbClr val="087F8C"/>
                </a:solidFill>
                <a:latin typeface="Arial"/>
                <a:ea typeface="Arial"/>
                <a:cs typeface="Arial"/>
              </a:defRPr>
            </a:pPr>
            <a:r>
              <a:rPr sz="1875" b="1">
                <a:solidFill>
                  <a:srgbClr val="087F8C"/>
                </a:solidFill>
                <a:latin typeface="Arial"/>
                <a:ea typeface="Arial"/>
                <a:cs typeface="Arial"/>
              </a:rPr>
              <a:t>TEAM ANALYSTS</a:t>
            </a:r>
          </a:p>
        </p:txBody>
      </p:sp>
      <p:sp>
        <p:nvSpPr>
          <p:cNvPr id="5" name="text-2">
            <a:extLst xmlns:a="http://schemas.openxmlformats.org/drawingml/2006/main">
              <a:ext uri="{FF2B5EF4-FFF2-40B4-BE49-F238E27FC236}">
                <a16:creationId xmlns:a16="http://schemas.microsoft.com/office/drawing/2014/main" id="{786399FF-9659-4FF0-8ADD-953F7EC49CBA}"/>
              </a:ext>
            </a:extLst>
          </p:cNvPr>
          <p:cNvSpPr>
            <a:spLocks xmlns:a="http://schemas.openxmlformats.org/drawingml/2006/main" noGrp="1"/>
          </p:cNvSpPr>
          <p:nvPr/>
        </p:nvSpPr>
        <p:spPr>
          <a:xfrm xmlns:a="http://schemas.openxmlformats.org/drawingml/2006/main">
            <a:off x="533400" y="539115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27584"/>
                </a:solidFill>
                <a:latin typeface="Arial"/>
                <a:ea typeface="Arial"/>
                <a:cs typeface="Arial"/>
              </a:defRPr>
            </a:defPPr>
            <a:lvl1pPr>
              <a:defRPr sz="1650" b="0">
                <a:solidFill>
                  <a:srgbClr val="627584"/>
                </a:solidFill>
                <a:latin typeface="Arial"/>
                <a:ea typeface="Arial"/>
                <a:cs typeface="Arial"/>
              </a:defRPr>
            </a:lvl1pPr>
            <a:lvl2pPr>
              <a:defRPr sz="1650" b="0">
                <a:solidFill>
                  <a:srgbClr val="627584"/>
                </a:solidFill>
                <a:latin typeface="Arial"/>
                <a:ea typeface="Arial"/>
                <a:cs typeface="Arial"/>
              </a:defRPr>
            </a:lvl2pPr>
            <a:lvl3pPr>
              <a:defRPr sz="1650" b="0">
                <a:solidFill>
                  <a:srgbClr val="627584"/>
                </a:solidFill>
                <a:latin typeface="Arial"/>
                <a:ea typeface="Arial"/>
                <a:cs typeface="Arial"/>
              </a:defRPr>
            </a:lvl3pPr>
            <a:lvl4pPr>
              <a:defRPr sz="1650" b="0">
                <a:solidFill>
                  <a:srgbClr val="627584"/>
                </a:solidFill>
                <a:latin typeface="Arial"/>
                <a:ea typeface="Arial"/>
                <a:cs typeface="Arial"/>
              </a:defRPr>
            </a:lvl4pPr>
            <a:lvl5pPr>
              <a:defRPr sz="1650" b="0">
                <a:solidFill>
                  <a:srgbClr val="627584"/>
                </a:solidFill>
                <a:latin typeface="Arial"/>
                <a:ea typeface="Arial"/>
                <a:cs typeface="Arial"/>
              </a:defRPr>
            </a:lvl5pPr>
            <a:lvl6pPr>
              <a:defRPr sz="1650" b="0">
                <a:solidFill>
                  <a:srgbClr val="627584"/>
                </a:solidFill>
                <a:latin typeface="Arial"/>
                <a:ea typeface="Arial"/>
                <a:cs typeface="Arial"/>
              </a:defRPr>
            </a:lvl6pPr>
            <a:lvl7pPr>
              <a:defRPr sz="1650" b="0">
                <a:solidFill>
                  <a:srgbClr val="627584"/>
                </a:solidFill>
                <a:latin typeface="Arial"/>
                <a:ea typeface="Arial"/>
                <a:cs typeface="Arial"/>
              </a:defRPr>
            </a:lvl7pPr>
            <a:lvl8pPr>
              <a:defRPr sz="1650" b="0">
                <a:solidFill>
                  <a:srgbClr val="627584"/>
                </a:solidFill>
                <a:latin typeface="Arial"/>
                <a:ea typeface="Arial"/>
                <a:cs typeface="Arial"/>
              </a:defRPr>
            </a:lvl8pPr>
            <a:lvl9pPr>
              <a:defRPr sz="1650" b="0">
                <a:solidFill>
                  <a:srgbClr val="627584"/>
                </a:solidFill>
                <a:latin typeface="Arial"/>
                <a:ea typeface="Arial"/>
                <a:cs typeface="Arial"/>
              </a:defRPr>
            </a:lvl9pPr>
          </a:lstStyle>
          <a:p xmlns:a="http://schemas.openxmlformats.org/drawingml/2006/main">
            <a:pPr>
              <a:defRPr sz="1650" b="0">
                <a:solidFill>
                  <a:srgbClr val="627584"/>
                </a:solidFill>
                <a:latin typeface="Arial"/>
                <a:ea typeface="Arial"/>
                <a:cs typeface="Arial"/>
              </a:defRPr>
            </a:pPr>
            <a:r>
              <a:rPr sz="1650" b="0">
                <a:solidFill>
                  <a:srgbClr val="627584"/>
                </a:solidFill>
                <a:latin typeface="Arial"/>
                <a:ea typeface="Arial"/>
                <a:cs typeface="Arial"/>
              </a:rPr>
              <a:t>TILESHIELD INSURANCE  •  AI LIABILITY INSURANCE</a:t>
            </a:r>
          </a:p>
        </p:txBody>
      </p:sp>
      <p:sp>
        <p:nvSpPr>
          <p:cNvPr id="6" name="text-3">
            <a:extLst xmlns:a="http://schemas.openxmlformats.org/drawingml/2006/main">
              <a:ext uri="{FF2B5EF4-FFF2-40B4-BE49-F238E27FC236}">
                <a16:creationId xmlns:a16="http://schemas.microsoft.com/office/drawing/2014/main" id="{919E706C-FB7E-42D8-8AC8-6E73451C77B0}"/>
              </a:ext>
            </a:extLst>
          </p:cNvPr>
          <p:cNvSpPr>
            <a:spLocks xmlns:a="http://schemas.openxmlformats.org/drawingml/2006/main" noGrp="1"/>
          </p:cNvSpPr>
          <p:nvPr/>
        </p:nvSpPr>
        <p:spPr>
          <a:xfrm xmlns:a="http://schemas.openxmlformats.org/drawingml/2006/main">
            <a:off x="533400" y="6057900"/>
            <a:ext cx="2781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142A3D"/>
                </a:solidFill>
                <a:latin typeface="Arial"/>
                <a:ea typeface="Arial"/>
                <a:cs typeface="Arial"/>
              </a:defRPr>
            </a:defPPr>
            <a:lvl1pPr>
              <a:defRPr sz="1500" b="1">
                <a:solidFill>
                  <a:srgbClr val="142A3D"/>
                </a:solidFill>
                <a:latin typeface="Arial"/>
                <a:ea typeface="Arial"/>
                <a:cs typeface="Arial"/>
              </a:defRPr>
            </a:lvl1pPr>
            <a:lvl2pPr>
              <a:defRPr sz="1500" b="1">
                <a:solidFill>
                  <a:srgbClr val="142A3D"/>
                </a:solidFill>
                <a:latin typeface="Arial"/>
                <a:ea typeface="Arial"/>
                <a:cs typeface="Arial"/>
              </a:defRPr>
            </a:lvl2pPr>
            <a:lvl3pPr>
              <a:defRPr sz="1500" b="1">
                <a:solidFill>
                  <a:srgbClr val="142A3D"/>
                </a:solidFill>
                <a:latin typeface="Arial"/>
                <a:ea typeface="Arial"/>
                <a:cs typeface="Arial"/>
              </a:defRPr>
            </a:lvl3pPr>
            <a:lvl4pPr>
              <a:defRPr sz="1500" b="1">
                <a:solidFill>
                  <a:srgbClr val="142A3D"/>
                </a:solidFill>
                <a:latin typeface="Arial"/>
                <a:ea typeface="Arial"/>
                <a:cs typeface="Arial"/>
              </a:defRPr>
            </a:lvl4pPr>
            <a:lvl5pPr>
              <a:defRPr sz="1500" b="1">
                <a:solidFill>
                  <a:srgbClr val="142A3D"/>
                </a:solidFill>
                <a:latin typeface="Arial"/>
                <a:ea typeface="Arial"/>
                <a:cs typeface="Arial"/>
              </a:defRPr>
            </a:lvl5pPr>
            <a:lvl6pPr>
              <a:defRPr sz="1500" b="1">
                <a:solidFill>
                  <a:srgbClr val="142A3D"/>
                </a:solidFill>
                <a:latin typeface="Arial"/>
                <a:ea typeface="Arial"/>
                <a:cs typeface="Arial"/>
              </a:defRPr>
            </a:lvl6pPr>
            <a:lvl7pPr>
              <a:defRPr sz="1500" b="1">
                <a:solidFill>
                  <a:srgbClr val="142A3D"/>
                </a:solidFill>
                <a:latin typeface="Arial"/>
                <a:ea typeface="Arial"/>
                <a:cs typeface="Arial"/>
              </a:defRPr>
            </a:lvl7pPr>
            <a:lvl8pPr>
              <a:defRPr sz="1500" b="1">
                <a:solidFill>
                  <a:srgbClr val="142A3D"/>
                </a:solidFill>
                <a:latin typeface="Arial"/>
                <a:ea typeface="Arial"/>
                <a:cs typeface="Arial"/>
              </a:defRPr>
            </a:lvl8pPr>
            <a:lvl9pPr>
              <a:defRPr sz="1500" b="1">
                <a:solidFill>
                  <a:srgbClr val="142A3D"/>
                </a:solidFill>
                <a:latin typeface="Arial"/>
                <a:ea typeface="Arial"/>
                <a:cs typeface="Arial"/>
              </a:defRPr>
            </a:lvl9pPr>
          </a:lstStyle>
          <a:p xmlns:a="http://schemas.openxmlformats.org/drawingml/2006/main">
            <a:pPr>
              <a:defRPr sz="1500" b="1">
                <a:solidFill>
                  <a:srgbClr val="142A3D"/>
                </a:solidFill>
                <a:latin typeface="Arial"/>
                <a:ea typeface="Arial"/>
                <a:cs typeface="Arial"/>
              </a:defRPr>
            </a:pPr>
            <a:r>
              <a:rPr sz="1500" b="1">
                <a:solidFill>
                  <a:srgbClr val="142A3D"/>
                </a:solidFill>
                <a:latin typeface="Arial"/>
                <a:ea typeface="Arial"/>
                <a:cs typeface="Arial"/>
              </a:rPr>
              <a:t>Charles - Jiaming Han</a:t>
            </a:r>
          </a:p>
        </p:txBody>
      </p:sp>
      <p:sp>
        <p:nvSpPr>
          <p:cNvPr id="7" name="text-4">
            <a:extLst xmlns:a="http://schemas.openxmlformats.org/drawingml/2006/main">
              <a:ext uri="{FF2B5EF4-FFF2-40B4-BE49-F238E27FC236}">
                <a16:creationId xmlns:a16="http://schemas.microsoft.com/office/drawing/2014/main" id="{89958119-6967-4B21-85F9-E930E6BD2C7C}"/>
              </a:ext>
            </a:extLst>
          </p:cNvPr>
          <p:cNvSpPr>
            <a:spLocks xmlns:a="http://schemas.openxmlformats.org/drawingml/2006/main" noGrp="1"/>
          </p:cNvSpPr>
          <p:nvPr/>
        </p:nvSpPr>
        <p:spPr>
          <a:xfrm xmlns:a="http://schemas.openxmlformats.org/drawingml/2006/main">
            <a:off x="3390900" y="6057900"/>
            <a:ext cx="2781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142A3D"/>
                </a:solidFill>
                <a:latin typeface="Arial"/>
                <a:ea typeface="Arial"/>
                <a:cs typeface="Arial"/>
              </a:defRPr>
            </a:defPPr>
            <a:lvl1pPr>
              <a:defRPr sz="1500" b="1">
                <a:solidFill>
                  <a:srgbClr val="142A3D"/>
                </a:solidFill>
                <a:latin typeface="Arial"/>
                <a:ea typeface="Arial"/>
                <a:cs typeface="Arial"/>
              </a:defRPr>
            </a:lvl1pPr>
            <a:lvl2pPr>
              <a:defRPr sz="1500" b="1">
                <a:solidFill>
                  <a:srgbClr val="142A3D"/>
                </a:solidFill>
                <a:latin typeface="Arial"/>
                <a:ea typeface="Arial"/>
                <a:cs typeface="Arial"/>
              </a:defRPr>
            </a:lvl2pPr>
            <a:lvl3pPr>
              <a:defRPr sz="1500" b="1">
                <a:solidFill>
                  <a:srgbClr val="142A3D"/>
                </a:solidFill>
                <a:latin typeface="Arial"/>
                <a:ea typeface="Arial"/>
                <a:cs typeface="Arial"/>
              </a:defRPr>
            </a:lvl3pPr>
            <a:lvl4pPr>
              <a:defRPr sz="1500" b="1">
                <a:solidFill>
                  <a:srgbClr val="142A3D"/>
                </a:solidFill>
                <a:latin typeface="Arial"/>
                <a:ea typeface="Arial"/>
                <a:cs typeface="Arial"/>
              </a:defRPr>
            </a:lvl4pPr>
            <a:lvl5pPr>
              <a:defRPr sz="1500" b="1">
                <a:solidFill>
                  <a:srgbClr val="142A3D"/>
                </a:solidFill>
                <a:latin typeface="Arial"/>
                <a:ea typeface="Arial"/>
                <a:cs typeface="Arial"/>
              </a:defRPr>
            </a:lvl5pPr>
            <a:lvl6pPr>
              <a:defRPr sz="1500" b="1">
                <a:solidFill>
                  <a:srgbClr val="142A3D"/>
                </a:solidFill>
                <a:latin typeface="Arial"/>
                <a:ea typeface="Arial"/>
                <a:cs typeface="Arial"/>
              </a:defRPr>
            </a:lvl6pPr>
            <a:lvl7pPr>
              <a:defRPr sz="1500" b="1">
                <a:solidFill>
                  <a:srgbClr val="142A3D"/>
                </a:solidFill>
                <a:latin typeface="Arial"/>
                <a:ea typeface="Arial"/>
                <a:cs typeface="Arial"/>
              </a:defRPr>
            </a:lvl7pPr>
            <a:lvl8pPr>
              <a:defRPr sz="1500" b="1">
                <a:solidFill>
                  <a:srgbClr val="142A3D"/>
                </a:solidFill>
                <a:latin typeface="Arial"/>
                <a:ea typeface="Arial"/>
                <a:cs typeface="Arial"/>
              </a:defRPr>
            </a:lvl8pPr>
            <a:lvl9pPr>
              <a:defRPr sz="1500" b="1">
                <a:solidFill>
                  <a:srgbClr val="142A3D"/>
                </a:solidFill>
                <a:latin typeface="Arial"/>
                <a:ea typeface="Arial"/>
                <a:cs typeface="Arial"/>
              </a:defRPr>
            </a:lvl9pPr>
          </a:lstStyle>
          <a:p xmlns:a="http://schemas.openxmlformats.org/drawingml/2006/main">
            <a:pPr>
              <a:defRPr sz="1500" b="1">
                <a:solidFill>
                  <a:srgbClr val="142A3D"/>
                </a:solidFill>
                <a:latin typeface="Arial"/>
                <a:ea typeface="Arial"/>
                <a:cs typeface="Arial"/>
              </a:defRPr>
            </a:pPr>
            <a:r>
              <a:rPr sz="1500" b="1">
                <a:solidFill>
                  <a:srgbClr val="142A3D"/>
                </a:solidFill>
                <a:latin typeface="Arial"/>
                <a:ea typeface="Arial"/>
                <a:cs typeface="Arial"/>
              </a:rPr>
              <a:t>Lucas - Haojie Wang</a:t>
            </a:r>
          </a:p>
        </p:txBody>
      </p:sp>
      <p:sp>
        <p:nvSpPr>
          <p:cNvPr id="8" name="text-5">
            <a:extLst xmlns:a="http://schemas.openxmlformats.org/drawingml/2006/main">
              <a:ext uri="{FF2B5EF4-FFF2-40B4-BE49-F238E27FC236}">
                <a16:creationId xmlns:a16="http://schemas.microsoft.com/office/drawing/2014/main" id="{832746F1-3F28-4379-8D34-7969846B090F}"/>
              </a:ext>
            </a:extLst>
          </p:cNvPr>
          <p:cNvSpPr>
            <a:spLocks xmlns:a="http://schemas.openxmlformats.org/drawingml/2006/main" noGrp="1"/>
          </p:cNvSpPr>
          <p:nvPr/>
        </p:nvSpPr>
        <p:spPr>
          <a:xfrm xmlns:a="http://schemas.openxmlformats.org/drawingml/2006/main">
            <a:off x="6248400" y="6057900"/>
            <a:ext cx="2781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142A3D"/>
                </a:solidFill>
                <a:latin typeface="Arial"/>
                <a:ea typeface="Arial"/>
                <a:cs typeface="Arial"/>
              </a:defRPr>
            </a:defPPr>
            <a:lvl1pPr>
              <a:defRPr sz="1500" b="1">
                <a:solidFill>
                  <a:srgbClr val="142A3D"/>
                </a:solidFill>
                <a:latin typeface="Arial"/>
                <a:ea typeface="Arial"/>
                <a:cs typeface="Arial"/>
              </a:defRPr>
            </a:lvl1pPr>
            <a:lvl2pPr>
              <a:defRPr sz="1500" b="1">
                <a:solidFill>
                  <a:srgbClr val="142A3D"/>
                </a:solidFill>
                <a:latin typeface="Arial"/>
                <a:ea typeface="Arial"/>
                <a:cs typeface="Arial"/>
              </a:defRPr>
            </a:lvl2pPr>
            <a:lvl3pPr>
              <a:defRPr sz="1500" b="1">
                <a:solidFill>
                  <a:srgbClr val="142A3D"/>
                </a:solidFill>
                <a:latin typeface="Arial"/>
                <a:ea typeface="Arial"/>
                <a:cs typeface="Arial"/>
              </a:defRPr>
            </a:lvl3pPr>
            <a:lvl4pPr>
              <a:defRPr sz="1500" b="1">
                <a:solidFill>
                  <a:srgbClr val="142A3D"/>
                </a:solidFill>
                <a:latin typeface="Arial"/>
                <a:ea typeface="Arial"/>
                <a:cs typeface="Arial"/>
              </a:defRPr>
            </a:lvl4pPr>
            <a:lvl5pPr>
              <a:defRPr sz="1500" b="1">
                <a:solidFill>
                  <a:srgbClr val="142A3D"/>
                </a:solidFill>
                <a:latin typeface="Arial"/>
                <a:ea typeface="Arial"/>
                <a:cs typeface="Arial"/>
              </a:defRPr>
            </a:lvl5pPr>
            <a:lvl6pPr>
              <a:defRPr sz="1500" b="1">
                <a:solidFill>
                  <a:srgbClr val="142A3D"/>
                </a:solidFill>
                <a:latin typeface="Arial"/>
                <a:ea typeface="Arial"/>
                <a:cs typeface="Arial"/>
              </a:defRPr>
            </a:lvl6pPr>
            <a:lvl7pPr>
              <a:defRPr sz="1500" b="1">
                <a:solidFill>
                  <a:srgbClr val="142A3D"/>
                </a:solidFill>
                <a:latin typeface="Arial"/>
                <a:ea typeface="Arial"/>
                <a:cs typeface="Arial"/>
              </a:defRPr>
            </a:lvl7pPr>
            <a:lvl8pPr>
              <a:defRPr sz="1500" b="1">
                <a:solidFill>
                  <a:srgbClr val="142A3D"/>
                </a:solidFill>
                <a:latin typeface="Arial"/>
                <a:ea typeface="Arial"/>
                <a:cs typeface="Arial"/>
              </a:defRPr>
            </a:lvl8pPr>
            <a:lvl9pPr>
              <a:defRPr sz="1500" b="1">
                <a:solidFill>
                  <a:srgbClr val="142A3D"/>
                </a:solidFill>
                <a:latin typeface="Arial"/>
                <a:ea typeface="Arial"/>
                <a:cs typeface="Arial"/>
              </a:defRPr>
            </a:lvl9pPr>
          </a:lstStyle>
          <a:p xmlns:a="http://schemas.openxmlformats.org/drawingml/2006/main">
            <a:pPr>
              <a:defRPr sz="1500" b="1">
                <a:solidFill>
                  <a:srgbClr val="142A3D"/>
                </a:solidFill>
                <a:latin typeface="Arial"/>
                <a:ea typeface="Arial"/>
                <a:cs typeface="Arial"/>
              </a:defRPr>
            </a:pPr>
            <a:r>
              <a:rPr sz="1500" b="1">
                <a:solidFill>
                  <a:srgbClr val="142A3D"/>
                </a:solidFill>
                <a:latin typeface="Arial"/>
                <a:ea typeface="Arial"/>
                <a:cs typeface="Arial"/>
              </a:rPr>
              <a:t>Hanson - JunHan Qian</a:t>
            </a:r>
          </a:p>
        </p:txBody>
      </p:sp>
      <p:sp>
        <p:nvSpPr>
          <p:cNvPr id="9" name="text-6">
            <a:extLst xmlns:a="http://schemas.openxmlformats.org/drawingml/2006/main">
              <a:ext uri="{FF2B5EF4-FFF2-40B4-BE49-F238E27FC236}">
                <a16:creationId xmlns:a16="http://schemas.microsoft.com/office/drawing/2014/main" id="{9B176586-5082-48F3-B320-F97F4D21D385}"/>
              </a:ext>
            </a:extLst>
          </p:cNvPr>
          <p:cNvSpPr>
            <a:spLocks xmlns:a="http://schemas.openxmlformats.org/drawingml/2006/main" noGrp="1"/>
          </p:cNvSpPr>
          <p:nvPr/>
        </p:nvSpPr>
        <p:spPr>
          <a:xfrm xmlns:a="http://schemas.openxmlformats.org/drawingml/2006/main">
            <a:off x="9105900" y="6057900"/>
            <a:ext cx="2781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142A3D"/>
                </a:solidFill>
                <a:latin typeface="Arial"/>
                <a:ea typeface="Arial"/>
                <a:cs typeface="Arial"/>
              </a:defRPr>
            </a:defPPr>
            <a:lvl1pPr>
              <a:defRPr sz="1500" b="1">
                <a:solidFill>
                  <a:srgbClr val="142A3D"/>
                </a:solidFill>
                <a:latin typeface="Arial"/>
                <a:ea typeface="Arial"/>
                <a:cs typeface="Arial"/>
              </a:defRPr>
            </a:lvl1pPr>
            <a:lvl2pPr>
              <a:defRPr sz="1500" b="1">
                <a:solidFill>
                  <a:srgbClr val="142A3D"/>
                </a:solidFill>
                <a:latin typeface="Arial"/>
                <a:ea typeface="Arial"/>
                <a:cs typeface="Arial"/>
              </a:defRPr>
            </a:lvl2pPr>
            <a:lvl3pPr>
              <a:defRPr sz="1500" b="1">
                <a:solidFill>
                  <a:srgbClr val="142A3D"/>
                </a:solidFill>
                <a:latin typeface="Arial"/>
                <a:ea typeface="Arial"/>
                <a:cs typeface="Arial"/>
              </a:defRPr>
            </a:lvl3pPr>
            <a:lvl4pPr>
              <a:defRPr sz="1500" b="1">
                <a:solidFill>
                  <a:srgbClr val="142A3D"/>
                </a:solidFill>
                <a:latin typeface="Arial"/>
                <a:ea typeface="Arial"/>
                <a:cs typeface="Arial"/>
              </a:defRPr>
            </a:lvl4pPr>
            <a:lvl5pPr>
              <a:defRPr sz="1500" b="1">
                <a:solidFill>
                  <a:srgbClr val="142A3D"/>
                </a:solidFill>
                <a:latin typeface="Arial"/>
                <a:ea typeface="Arial"/>
                <a:cs typeface="Arial"/>
              </a:defRPr>
            </a:lvl5pPr>
            <a:lvl6pPr>
              <a:defRPr sz="1500" b="1">
                <a:solidFill>
                  <a:srgbClr val="142A3D"/>
                </a:solidFill>
                <a:latin typeface="Arial"/>
                <a:ea typeface="Arial"/>
                <a:cs typeface="Arial"/>
              </a:defRPr>
            </a:lvl6pPr>
            <a:lvl7pPr>
              <a:defRPr sz="1500" b="1">
                <a:solidFill>
                  <a:srgbClr val="142A3D"/>
                </a:solidFill>
                <a:latin typeface="Arial"/>
                <a:ea typeface="Arial"/>
                <a:cs typeface="Arial"/>
              </a:defRPr>
            </a:lvl7pPr>
            <a:lvl8pPr>
              <a:defRPr sz="1500" b="1">
                <a:solidFill>
                  <a:srgbClr val="142A3D"/>
                </a:solidFill>
                <a:latin typeface="Arial"/>
                <a:ea typeface="Arial"/>
                <a:cs typeface="Arial"/>
              </a:defRPr>
            </a:lvl8pPr>
            <a:lvl9pPr>
              <a:defRPr sz="1500" b="1">
                <a:solidFill>
                  <a:srgbClr val="142A3D"/>
                </a:solidFill>
                <a:latin typeface="Arial"/>
                <a:ea typeface="Arial"/>
                <a:cs typeface="Arial"/>
              </a:defRPr>
            </a:lvl9pPr>
          </a:lstStyle>
          <a:p xmlns:a="http://schemas.openxmlformats.org/drawingml/2006/main">
            <a:pPr>
              <a:defRPr sz="1500" b="1">
                <a:solidFill>
                  <a:srgbClr val="142A3D"/>
                </a:solidFill>
                <a:latin typeface="Arial"/>
                <a:ea typeface="Arial"/>
                <a:cs typeface="Arial"/>
              </a:defRPr>
            </a:pPr>
            <a:r>
              <a:rPr sz="1500" b="1">
                <a:solidFill>
                  <a:srgbClr val="142A3D"/>
                </a:solidFill>
                <a:latin typeface="Arial"/>
                <a:ea typeface="Arial"/>
                <a:cs typeface="Arial"/>
              </a:rPr>
              <a:t>Anthony - Minghao Sun</a:t>
            </a:r>
          </a:p>
        </p:txBody>
      </p:sp>
    </p:spTree>
    <p:extLst>
      <p:ext uri="{BB962C8B-B14F-4D97-AF65-F5344CB8AC3E}">
        <p14:creationId xmlns:p14="http://schemas.microsoft.com/office/powerpoint/2010/main" val="114276804"/>
      </p:ext>
    </p:extLst>
  </p:cSld>
</p:sld>
</file>

<file path=ppt/slides/slide2.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7">
            <a:extLst xmlns:a="http://schemas.openxmlformats.org/drawingml/2006/main">
              <a:ext uri="{FF2B5EF4-FFF2-40B4-BE49-F238E27FC236}">
                <a16:creationId xmlns:a16="http://schemas.microsoft.com/office/drawing/2014/main" id="{73B767DA-4C6D-4810-9A07-55AA1138A18B}"/>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A limited endorsement launch is conditional</a:t>
            </a:r>
          </a:p>
        </p:txBody>
      </p:sp>
      <p:sp>
        <p:nvSpPr>
          <p:cNvPr id="3" name="text-8">
            <a:extLst xmlns:a="http://schemas.openxmlformats.org/drawingml/2006/main">
              <a:ext uri="{FF2B5EF4-FFF2-40B4-BE49-F238E27FC236}">
                <a16:creationId xmlns:a16="http://schemas.microsoft.com/office/drawing/2014/main" id="{D85D46FE-3846-4EB9-854A-DDD3A987E139}"/>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Source: Quantify 2026 case, Sections 2, 4–5. Team Analysts revised recommendation.</a:t>
            </a:r>
          </a:p>
        </p:txBody>
      </p:sp>
      <p:sp>
        <p:nvSpPr>
          <p:cNvPr id="4" name="text-9">
            <a:extLst xmlns:a="http://schemas.openxmlformats.org/drawingml/2006/main">
              <a:ext uri="{FF2B5EF4-FFF2-40B4-BE49-F238E27FC236}">
                <a16:creationId xmlns:a16="http://schemas.microsoft.com/office/drawing/2014/main" id="{CE9BBC3B-DA4A-4D8B-87CD-A4B3FB669546}"/>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02</a:t>
            </a:r>
          </a:p>
        </p:txBody>
      </p:sp>
      <p:sp>
        <p:nvSpPr>
          <p:cNvPr id="5" name="text-10">
            <a:extLst xmlns:a="http://schemas.openxmlformats.org/drawingml/2006/main">
              <a:ext uri="{FF2B5EF4-FFF2-40B4-BE49-F238E27FC236}">
                <a16:creationId xmlns:a16="http://schemas.microsoft.com/office/drawing/2014/main" id="{6AC5721B-23E4-4598-AF24-6BCDE27B55A4}"/>
              </a:ext>
            </a:extLst>
          </p:cNvPr>
          <p:cNvSpPr>
            <a:spLocks xmlns:a="http://schemas.openxmlformats.org/drawingml/2006/main" noGrp="1"/>
          </p:cNvSpPr>
          <p:nvPr/>
        </p:nvSpPr>
        <p:spPr>
          <a:xfrm xmlns:a="http://schemas.openxmlformats.org/drawingml/2006/main">
            <a:off x="533400" y="1790700"/>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087F8C"/>
                </a:solidFill>
                <a:latin typeface="Arial"/>
                <a:ea typeface="Arial"/>
                <a:cs typeface="Arial"/>
              </a:defRPr>
            </a:defPPr>
            <a:lvl1pPr>
              <a:defRPr sz="4800" b="1">
                <a:solidFill>
                  <a:srgbClr val="087F8C"/>
                </a:solidFill>
                <a:latin typeface="Arial"/>
                <a:ea typeface="Arial"/>
                <a:cs typeface="Arial"/>
              </a:defRPr>
            </a:lvl1pPr>
            <a:lvl2pPr>
              <a:defRPr sz="4800" b="1">
                <a:solidFill>
                  <a:srgbClr val="087F8C"/>
                </a:solidFill>
                <a:latin typeface="Arial"/>
                <a:ea typeface="Arial"/>
                <a:cs typeface="Arial"/>
              </a:defRPr>
            </a:lvl2pPr>
            <a:lvl3pPr>
              <a:defRPr sz="4800" b="1">
                <a:solidFill>
                  <a:srgbClr val="087F8C"/>
                </a:solidFill>
                <a:latin typeface="Arial"/>
                <a:ea typeface="Arial"/>
                <a:cs typeface="Arial"/>
              </a:defRPr>
            </a:lvl3pPr>
            <a:lvl4pPr>
              <a:defRPr sz="4800" b="1">
                <a:solidFill>
                  <a:srgbClr val="087F8C"/>
                </a:solidFill>
                <a:latin typeface="Arial"/>
                <a:ea typeface="Arial"/>
                <a:cs typeface="Arial"/>
              </a:defRPr>
            </a:lvl4pPr>
            <a:lvl5pPr>
              <a:defRPr sz="4800" b="1">
                <a:solidFill>
                  <a:srgbClr val="087F8C"/>
                </a:solidFill>
                <a:latin typeface="Arial"/>
                <a:ea typeface="Arial"/>
                <a:cs typeface="Arial"/>
              </a:defRPr>
            </a:lvl5pPr>
            <a:lvl6pPr>
              <a:defRPr sz="4800" b="1">
                <a:solidFill>
                  <a:srgbClr val="087F8C"/>
                </a:solidFill>
                <a:latin typeface="Arial"/>
                <a:ea typeface="Arial"/>
                <a:cs typeface="Arial"/>
              </a:defRPr>
            </a:lvl6pPr>
            <a:lvl7pPr>
              <a:defRPr sz="4800" b="1">
                <a:solidFill>
                  <a:srgbClr val="087F8C"/>
                </a:solidFill>
                <a:latin typeface="Arial"/>
                <a:ea typeface="Arial"/>
                <a:cs typeface="Arial"/>
              </a:defRPr>
            </a:lvl7pPr>
            <a:lvl8pPr>
              <a:defRPr sz="4800" b="1">
                <a:solidFill>
                  <a:srgbClr val="087F8C"/>
                </a:solidFill>
                <a:latin typeface="Arial"/>
                <a:ea typeface="Arial"/>
                <a:cs typeface="Arial"/>
              </a:defRPr>
            </a:lvl8pPr>
            <a:lvl9pPr>
              <a:defRPr sz="4800" b="1">
                <a:solidFill>
                  <a:srgbClr val="087F8C"/>
                </a:solidFill>
                <a:latin typeface="Arial"/>
                <a:ea typeface="Arial"/>
                <a:cs typeface="Arial"/>
              </a:defRPr>
            </a:lvl9pPr>
          </a:lstStyle>
          <a:p xmlns:a="http://schemas.openxmlformats.org/drawingml/2006/main">
            <a:pPr>
              <a:defRPr sz="4800" b="1">
                <a:solidFill>
                  <a:srgbClr val="087F8C"/>
                </a:solidFill>
                <a:latin typeface="Arial"/>
                <a:ea typeface="Arial"/>
                <a:cs typeface="Arial"/>
              </a:defRPr>
            </a:pPr>
            <a:r>
              <a:rPr sz="4800" b="1">
                <a:solidFill>
                  <a:srgbClr val="087F8C"/>
                </a:solidFill>
                <a:latin typeface="Arial"/>
                <a:ea typeface="Arial"/>
                <a:cs typeface="Arial"/>
              </a:rPr>
              <a:t>OPTION B</a:t>
            </a:r>
          </a:p>
        </p:txBody>
      </p:sp>
      <p:sp>
        <p:nvSpPr>
          <p:cNvPr id="6" name="text-11">
            <a:extLst xmlns:a="http://schemas.openxmlformats.org/drawingml/2006/main">
              <a:ext uri="{FF2B5EF4-FFF2-40B4-BE49-F238E27FC236}">
                <a16:creationId xmlns:a16="http://schemas.microsoft.com/office/drawing/2014/main" id="{DF14DAB8-FB26-44A2-8DAA-4C79011CEAE0}"/>
              </a:ext>
            </a:extLst>
          </p:cNvPr>
          <p:cNvSpPr>
            <a:spLocks xmlns:a="http://schemas.openxmlformats.org/drawingml/2006/main" noGrp="1"/>
          </p:cNvSpPr>
          <p:nvPr/>
        </p:nvSpPr>
        <p:spPr>
          <a:xfrm xmlns:a="http://schemas.openxmlformats.org/drawingml/2006/main">
            <a:off x="533400" y="2876550"/>
            <a:ext cx="3619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A3D"/>
                </a:solidFill>
                <a:latin typeface="Arial"/>
                <a:ea typeface="Arial"/>
                <a:cs typeface="Arial"/>
              </a:defRPr>
            </a:defPPr>
            <a:lvl1pPr>
              <a:defRPr sz="2175" b="0">
                <a:solidFill>
                  <a:srgbClr val="142A3D"/>
                </a:solidFill>
                <a:latin typeface="Arial"/>
                <a:ea typeface="Arial"/>
                <a:cs typeface="Arial"/>
              </a:defRPr>
            </a:lvl1pPr>
            <a:lvl2pPr>
              <a:defRPr sz="2175" b="0">
                <a:solidFill>
                  <a:srgbClr val="142A3D"/>
                </a:solidFill>
                <a:latin typeface="Arial"/>
                <a:ea typeface="Arial"/>
                <a:cs typeface="Arial"/>
              </a:defRPr>
            </a:lvl2pPr>
            <a:lvl3pPr>
              <a:defRPr sz="2175" b="0">
                <a:solidFill>
                  <a:srgbClr val="142A3D"/>
                </a:solidFill>
                <a:latin typeface="Arial"/>
                <a:ea typeface="Arial"/>
                <a:cs typeface="Arial"/>
              </a:defRPr>
            </a:lvl3pPr>
            <a:lvl4pPr>
              <a:defRPr sz="2175" b="0">
                <a:solidFill>
                  <a:srgbClr val="142A3D"/>
                </a:solidFill>
                <a:latin typeface="Arial"/>
                <a:ea typeface="Arial"/>
                <a:cs typeface="Arial"/>
              </a:defRPr>
            </a:lvl4pPr>
            <a:lvl5pPr>
              <a:defRPr sz="2175" b="0">
                <a:solidFill>
                  <a:srgbClr val="142A3D"/>
                </a:solidFill>
                <a:latin typeface="Arial"/>
                <a:ea typeface="Arial"/>
                <a:cs typeface="Arial"/>
              </a:defRPr>
            </a:lvl5pPr>
            <a:lvl6pPr>
              <a:defRPr sz="2175" b="0">
                <a:solidFill>
                  <a:srgbClr val="142A3D"/>
                </a:solidFill>
                <a:latin typeface="Arial"/>
                <a:ea typeface="Arial"/>
                <a:cs typeface="Arial"/>
              </a:defRPr>
            </a:lvl6pPr>
            <a:lvl7pPr>
              <a:defRPr sz="2175" b="0">
                <a:solidFill>
                  <a:srgbClr val="142A3D"/>
                </a:solidFill>
                <a:latin typeface="Arial"/>
                <a:ea typeface="Arial"/>
                <a:cs typeface="Arial"/>
              </a:defRPr>
            </a:lvl7pPr>
            <a:lvl8pPr>
              <a:defRPr sz="2175" b="0">
                <a:solidFill>
                  <a:srgbClr val="142A3D"/>
                </a:solidFill>
                <a:latin typeface="Arial"/>
                <a:ea typeface="Arial"/>
                <a:cs typeface="Arial"/>
              </a:defRPr>
            </a:lvl8pPr>
            <a:lvl9pPr>
              <a:defRPr sz="2175" b="0">
                <a:solidFill>
                  <a:srgbClr val="142A3D"/>
                </a:solidFill>
                <a:latin typeface="Arial"/>
                <a:ea typeface="Arial"/>
                <a:cs typeface="Arial"/>
              </a:defRPr>
            </a:lvl9pPr>
          </a:lstStyle>
          <a:p xmlns:a="http://schemas.openxmlformats.org/drawingml/2006/main">
            <a:pPr>
              <a:defRPr sz="2175" b="0">
                <a:solidFill>
                  <a:srgbClr val="142A3D"/>
                </a:solidFill>
                <a:latin typeface="Arial"/>
                <a:ea typeface="Arial"/>
                <a:cs typeface="Arial"/>
              </a:defRPr>
            </a:pPr>
            <a:r>
              <a:rPr sz="2175" b="0">
                <a:solidFill>
                  <a:srgbClr val="142A3D"/>
                </a:solidFill>
                <a:latin typeface="Arial"/>
                <a:ea typeface="Arial"/>
                <a:cs typeface="Arial"/>
              </a:rPr>
              <a:t>Selected existing SMEs</a:t>
            </a:r>
          </a:p>
          <a:p xmlns:a="http://schemas.openxmlformats.org/drawingml/2006/main">
            <a:pPr>
              <a:defRPr sz="2175" b="0">
                <a:solidFill>
                  <a:srgbClr val="142A3D"/>
                </a:solidFill>
                <a:latin typeface="Arial"/>
                <a:ea typeface="Arial"/>
                <a:cs typeface="Arial"/>
              </a:defRPr>
            </a:pPr>
            <a:r>
              <a:rPr sz="2175" b="0">
                <a:solidFill>
                  <a:srgbClr val="142A3D"/>
                </a:solidFill>
                <a:latin typeface="Arial"/>
                <a:ea typeface="Arial"/>
                <a:cs typeface="Arial"/>
              </a:rPr>
              <a:t>Verified AI uses</a:t>
            </a:r>
          </a:p>
          <a:p xmlns:a="http://schemas.openxmlformats.org/drawingml/2006/main">
            <a:pPr>
              <a:defRPr sz="2175" b="0">
                <a:solidFill>
                  <a:srgbClr val="142A3D"/>
                </a:solidFill>
                <a:latin typeface="Arial"/>
                <a:ea typeface="Arial"/>
                <a:cs typeface="Arial"/>
              </a:defRPr>
            </a:pPr>
            <a:r>
              <a:rPr sz="2175" b="0">
                <a:solidFill>
                  <a:srgbClr val="142A3D"/>
                </a:solidFill>
                <a:latin typeface="Arial"/>
                <a:ea typeface="Arial"/>
                <a:cs typeface="Arial"/>
              </a:rPr>
              <a:t>E&amp;O + Technology Products</a:t>
            </a:r>
          </a:p>
        </p:txBody>
      </p:sp>
      <p:graphicFrame>
        <p:nvGraphicFramePr>
          <p:cNvPr id="7" name="">
            <a:extLst xmlns:a="http://schemas.openxmlformats.org/drawingml/2006/main">
              <a:ext uri="{FF2B5EF4-FFF2-40B4-BE49-F238E27FC236}">
                <a16:creationId xmlns:a16="http://schemas.microsoft.com/office/drawing/2014/main" id="{8C6797AE-682E-41C8-829C-18310D3490A2}"/>
              </a:ext>
            </a:extLst>
          </p:cNvPr>
          <p:cNvGraphicFramePr/>
          <p:nvPr/>
        </p:nvGraphicFramePr>
        <p:xfrm>
          <a:off xmlns:a="http://schemas.openxmlformats.org/drawingml/2006/main" x="4762500" y="1733550"/>
          <a:ext xmlns:a="http://schemas.openxmlformats.org/drawingml/2006/main" cx="6896100" cy="3695700"/>
        </p:xfrm>
        <a:graphic xmlns:a="http://schemas.openxmlformats.org/drawingml/2006/main">
          <a:graphicData uri="http://schemas.openxmlformats.org/drawingml/2006/table">
            <a:tbl>
              <a:tblPr/>
              <a:tblGrid>
                <a:gridCol w="2000250"/>
                <a:gridCol w="4762500"/>
              </a:tblGrid>
              <a:tr h="739140">
                <a:tc>
                  <a:txBody>
                    <a:bodyPr lIns="133350" tIns="114300" rIns="133350" bIns="95250"/>
                    <a:lstStyle/>
                    <a:p>
                      <a:r>
                        <a:rPr sz="1725" b="1">
                          <a:solidFill>
                            <a:srgbClr val="FFFFFF"/>
                          </a:solidFill>
                          <a:latin typeface="Arial"/>
                          <a:ea typeface="Arial"/>
                          <a:cs typeface="Arial"/>
                        </a:rPr>
                        <a:t>Launch gate</a:t>
                      </a:r>
                    </a:p>
                  </a:txBody>
                  <a:tcPr marL="91440" marR="91440" marT="45720" marB="45720" anchor="ctr">
                    <a:lnL w="9525">
                      <a:solidFill>
                        <a:srgbClr val="F5F3EF"/>
                      </a:solidFill>
                      <a:prstDash val="solid"/>
                    </a:lnL>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c>
                  <a:txBody>
                    <a:bodyPr lIns="133350" tIns="114300" rIns="133350" bIns="95250"/>
                    <a:lstStyle/>
                    <a:p>
                      <a:r>
                        <a:rPr sz="1725" b="1">
                          <a:solidFill>
                            <a:srgbClr val="FFFFFF"/>
                          </a:solidFill>
                          <a:latin typeface="Arial"/>
                          <a:ea typeface="Arial"/>
                          <a:cs typeface="Arial"/>
                        </a:rPr>
                        <a:t>Evidence required</a:t>
                      </a:r>
                    </a:p>
                  </a:txBody>
                  <a:tcPr marL="91440" marR="91440" marT="45720" marB="45720" anchor="ctr">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r>
              <a:tr h="739140">
                <a:tc>
                  <a:txBody>
                    <a:bodyPr lIns="133350" tIns="114300" rIns="133350" bIns="95250"/>
                    <a:lstStyle/>
                    <a:p>
                      <a:r>
                        <a:rPr sz="1725" b="0">
                          <a:solidFill>
                            <a:srgbClr val="142A3D"/>
                          </a:solidFill>
                          <a:latin typeface="Arial"/>
                          <a:ea typeface="Arial"/>
                          <a:cs typeface="Arial"/>
                        </a:rPr>
                        <a:t>Customer value</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725" b="0">
                          <a:solidFill>
                            <a:srgbClr val="142A3D"/>
                          </a:solidFill>
                          <a:latin typeface="Arial"/>
                          <a:ea typeface="Arial"/>
                          <a:cs typeface="Arial"/>
                        </a:rPr>
                        <a:t>Clear additional protection</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739140">
                <a:tc>
                  <a:txBody>
                    <a:bodyPr lIns="133350" tIns="114300" rIns="133350" bIns="95250"/>
                    <a:lstStyle/>
                    <a:p>
                      <a:r>
                        <a:rPr sz="1725" b="0">
                          <a:solidFill>
                            <a:srgbClr val="142A3D"/>
                          </a:solidFill>
                          <a:latin typeface="Arial"/>
                          <a:ea typeface="Arial"/>
                          <a:cs typeface="Arial"/>
                        </a:rPr>
                        <a:t>Economics</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725" b="0">
                          <a:solidFill>
                            <a:srgbClr val="142A3D"/>
                          </a:solidFill>
                          <a:latin typeface="Arial"/>
                          <a:ea typeface="Arial"/>
                          <a:cs typeface="Arial"/>
                        </a:rPr>
                        <a:t>Willingness to pay meets technical price</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r h="739140">
                <a:tc>
                  <a:txBody>
                    <a:bodyPr lIns="133350" tIns="114300" rIns="133350" bIns="95250"/>
                    <a:lstStyle/>
                    <a:p>
                      <a:r>
                        <a:rPr sz="1725" b="0">
                          <a:solidFill>
                            <a:srgbClr val="142A3D"/>
                          </a:solidFill>
                          <a:latin typeface="Arial"/>
                          <a:ea typeface="Arial"/>
                          <a:cs typeface="Arial"/>
                        </a:rPr>
                        <a:t>Risk capacity</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725" b="0">
                          <a:solidFill>
                            <a:srgbClr val="142A3D"/>
                          </a:solidFill>
                          <a:latin typeface="Arial"/>
                          <a:ea typeface="Arial"/>
                          <a:cs typeface="Arial"/>
                        </a:rPr>
                        <a:t>Common-event stress fits approved budget</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739140">
                <a:tc>
                  <a:txBody>
                    <a:bodyPr lIns="133350" tIns="114300" rIns="133350" bIns="95250"/>
                    <a:lstStyle/>
                    <a:p>
                      <a:r>
                        <a:rPr sz="1725" b="0">
                          <a:solidFill>
                            <a:srgbClr val="142A3D"/>
                          </a:solidFill>
                          <a:latin typeface="Arial"/>
                          <a:ea typeface="Arial"/>
                          <a:cs typeface="Arial"/>
                        </a:rPr>
                        <a:t>Operations</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725" b="0">
                          <a:solidFill>
                            <a:srgbClr val="142A3D"/>
                          </a:solidFill>
                          <a:latin typeface="Arial"/>
                          <a:ea typeface="Arial"/>
                          <a:cs typeface="Arial"/>
                        </a:rPr>
                        <a:t>Wording, data and claims process ready</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bl>
          </a:graphicData>
        </a:graphic>
      </p:graphicFrame>
      <p:sp>
        <p:nvSpPr>
          <p:cNvPr id="8" name="text-12">
            <a:extLst xmlns:a="http://schemas.openxmlformats.org/drawingml/2006/main">
              <a:ext uri="{FF2B5EF4-FFF2-40B4-BE49-F238E27FC236}">
                <a16:creationId xmlns:a16="http://schemas.microsoft.com/office/drawing/2014/main" id="{30494FC1-A4BD-429F-A78B-97BD898F3A05}"/>
              </a:ext>
            </a:extLst>
          </p:cNvPr>
          <p:cNvSpPr>
            <a:spLocks xmlns:a="http://schemas.openxmlformats.org/drawingml/2006/main" noGrp="1"/>
          </p:cNvSpPr>
          <p:nvPr/>
        </p:nvSpPr>
        <p:spPr>
          <a:xfrm xmlns:a="http://schemas.openxmlformats.org/drawingml/2006/main">
            <a:off x="533400" y="56578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2A3D"/>
                </a:solidFill>
                <a:latin typeface="Arial"/>
                <a:ea typeface="Arial"/>
                <a:cs typeface="Arial"/>
              </a:defRPr>
            </a:defPPr>
            <a:lvl1pPr>
              <a:defRPr sz="2175" b="1">
                <a:solidFill>
                  <a:srgbClr val="142A3D"/>
                </a:solidFill>
                <a:latin typeface="Arial"/>
                <a:ea typeface="Arial"/>
                <a:cs typeface="Arial"/>
              </a:defRPr>
            </a:lvl1pPr>
            <a:lvl2pPr>
              <a:defRPr sz="2175" b="1">
                <a:solidFill>
                  <a:srgbClr val="142A3D"/>
                </a:solidFill>
                <a:latin typeface="Arial"/>
                <a:ea typeface="Arial"/>
                <a:cs typeface="Arial"/>
              </a:defRPr>
            </a:lvl2pPr>
            <a:lvl3pPr>
              <a:defRPr sz="2175" b="1">
                <a:solidFill>
                  <a:srgbClr val="142A3D"/>
                </a:solidFill>
                <a:latin typeface="Arial"/>
                <a:ea typeface="Arial"/>
                <a:cs typeface="Arial"/>
              </a:defRPr>
            </a:lvl3pPr>
            <a:lvl4pPr>
              <a:defRPr sz="2175" b="1">
                <a:solidFill>
                  <a:srgbClr val="142A3D"/>
                </a:solidFill>
                <a:latin typeface="Arial"/>
                <a:ea typeface="Arial"/>
                <a:cs typeface="Arial"/>
              </a:defRPr>
            </a:lvl4pPr>
            <a:lvl5pPr>
              <a:defRPr sz="2175" b="1">
                <a:solidFill>
                  <a:srgbClr val="142A3D"/>
                </a:solidFill>
                <a:latin typeface="Arial"/>
                <a:ea typeface="Arial"/>
                <a:cs typeface="Arial"/>
              </a:defRPr>
            </a:lvl5pPr>
            <a:lvl6pPr>
              <a:defRPr sz="2175" b="1">
                <a:solidFill>
                  <a:srgbClr val="142A3D"/>
                </a:solidFill>
                <a:latin typeface="Arial"/>
                <a:ea typeface="Arial"/>
                <a:cs typeface="Arial"/>
              </a:defRPr>
            </a:lvl6pPr>
            <a:lvl7pPr>
              <a:defRPr sz="2175" b="1">
                <a:solidFill>
                  <a:srgbClr val="142A3D"/>
                </a:solidFill>
                <a:latin typeface="Arial"/>
                <a:ea typeface="Arial"/>
                <a:cs typeface="Arial"/>
              </a:defRPr>
            </a:lvl7pPr>
            <a:lvl8pPr>
              <a:defRPr sz="2175" b="1">
                <a:solidFill>
                  <a:srgbClr val="142A3D"/>
                </a:solidFill>
                <a:latin typeface="Arial"/>
                <a:ea typeface="Arial"/>
                <a:cs typeface="Arial"/>
              </a:defRPr>
            </a:lvl8pPr>
            <a:lvl9pPr>
              <a:defRPr sz="2175" b="1">
                <a:solidFill>
                  <a:srgbClr val="142A3D"/>
                </a:solidFill>
                <a:latin typeface="Arial"/>
                <a:ea typeface="Arial"/>
                <a:cs typeface="Arial"/>
              </a:defRPr>
            </a:lvl9pPr>
          </a:lstStyle>
          <a:p xmlns:a="http://schemas.openxmlformats.org/drawingml/2006/main">
            <a:pPr>
              <a:defRPr sz="2175" b="1">
                <a:solidFill>
                  <a:srgbClr val="142A3D"/>
                </a:solidFill>
                <a:latin typeface="Arial"/>
                <a:ea typeface="Arial"/>
                <a:cs typeface="Arial"/>
              </a:defRPr>
            </a:pPr>
            <a:r>
              <a:rPr sz="2175" b="1">
                <a:solidFill>
                  <a:srgbClr val="142A3D"/>
                </a:solidFill>
                <a:latin typeface="Arial"/>
                <a:ea typeface="Arial"/>
                <a:cs typeface="Arial"/>
              </a:rPr>
              <a:t>If a gate fails, continue capability building before binding.</a:t>
            </a:r>
          </a:p>
        </p:txBody>
      </p:sp>
    </p:spTree>
    <p:extLst>
      <p:ext uri="{BB962C8B-B14F-4D97-AF65-F5344CB8AC3E}">
        <p14:creationId xmlns:p14="http://schemas.microsoft.com/office/powerpoint/2010/main" val="948745971"/>
      </p:ext>
    </p:extLst>
  </p:cSld>
</p:sld>
</file>

<file path=ppt/slides/slide3.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13">
            <a:extLst xmlns:a="http://schemas.openxmlformats.org/drawingml/2006/main">
              <a:ext uri="{FF2B5EF4-FFF2-40B4-BE49-F238E27FC236}">
                <a16:creationId xmlns:a16="http://schemas.microsoft.com/office/drawing/2014/main" id="{77A29029-430F-445B-BB77-D0672ECDF80F}"/>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Profitable underwriting supports a measured pilot</a:t>
            </a:r>
          </a:p>
        </p:txBody>
      </p:sp>
      <p:sp>
        <p:nvSpPr>
          <p:cNvPr id="3" name="text-14">
            <a:extLst xmlns:a="http://schemas.openxmlformats.org/drawingml/2006/main">
              <a:ext uri="{FF2B5EF4-FFF2-40B4-BE49-F238E27FC236}">
                <a16:creationId xmlns:a16="http://schemas.microsoft.com/office/drawing/2014/main" id="{383A37D8-C1EC-4BC2-B0BB-5848810FABD7}"/>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Source: Exhibit A, 2025. Combined ratio = (incurred losses + expenses) / earned premium.</a:t>
            </a:r>
          </a:p>
        </p:txBody>
      </p:sp>
      <p:sp>
        <p:nvSpPr>
          <p:cNvPr id="4" name="text-15">
            <a:extLst xmlns:a="http://schemas.openxmlformats.org/drawingml/2006/main">
              <a:ext uri="{FF2B5EF4-FFF2-40B4-BE49-F238E27FC236}">
                <a16:creationId xmlns:a16="http://schemas.microsoft.com/office/drawing/2014/main" id="{113D209E-DBFC-4ACA-8F34-011CE1F679BA}"/>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03</a:t>
            </a:r>
          </a:p>
        </p:txBody>
      </p:sp>
      <p:graphicFrame>
        <p:nvGraphicFramePr>
          <p:cNvPr id="5" name="Chart">
            <a:extLst xmlns:a="http://schemas.openxmlformats.org/drawingml/2006/main">
              <a:ext uri="{FF2B5EF4-FFF2-40B4-BE49-F238E27FC236}">
                <a16:creationId xmlns:a16="http://schemas.microsoft.com/office/drawing/2014/main" id="{EC952325-73DF-4061-A779-4ECE48684AE4}"/>
              </a:ext>
            </a:extLst>
          </p:cNvPr>
          <p:cNvGraphicFramePr/>
          <p:nvPr/>
        </p:nvGraphicFramePr>
        <p:xfrm>
          <a:off xmlns:a="http://schemas.openxmlformats.org/drawingml/2006/main" x="419100" y="1676400"/>
          <a:ext xmlns:a="http://schemas.openxmlformats.org/drawingml/2006/main" cx="7620000" cy="3810000"/>
        </p:xfrm>
        <a:graphic xmlns:a="http://schemas.openxmlformats.org/drawingml/2006/main">
          <a:graphicData uri="http://schemas.openxmlformats.org/drawingml/2006/chart">
            <c:chart xmlns:r="http://schemas.openxmlformats.org/officeDocument/2006/relationships" xmlns:c="http://schemas.openxmlformats.org/drawingml/2006/chart" r:id="R9a257ab7d0744d3c"/>
          </a:graphicData>
        </a:graphic>
      </p:graphicFrame>
      <p:sp>
        <p:nvSpPr>
          <p:cNvPr id="6" name="text-16">
            <a:extLst xmlns:a="http://schemas.openxmlformats.org/drawingml/2006/main">
              <a:ext uri="{FF2B5EF4-FFF2-40B4-BE49-F238E27FC236}">
                <a16:creationId xmlns:a16="http://schemas.microsoft.com/office/drawing/2014/main" id="{FDEED01E-9616-4AE7-AB7F-7F53D58669EF}"/>
              </a:ext>
            </a:extLst>
          </p:cNvPr>
          <p:cNvSpPr>
            <a:spLocks xmlns:a="http://schemas.openxmlformats.org/drawingml/2006/main" noGrp="1"/>
          </p:cNvSpPr>
          <p:nvPr/>
        </p:nvSpPr>
        <p:spPr>
          <a:xfrm xmlns:a="http://schemas.openxmlformats.org/drawingml/2006/main">
            <a:off x="8572500" y="2000250"/>
            <a:ext cx="308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087F8C"/>
                </a:solidFill>
                <a:latin typeface="Arial"/>
                <a:ea typeface="Arial"/>
                <a:cs typeface="Arial"/>
              </a:defRPr>
            </a:defPPr>
            <a:lvl1pPr>
              <a:defRPr sz="5700" b="1">
                <a:solidFill>
                  <a:srgbClr val="087F8C"/>
                </a:solidFill>
                <a:latin typeface="Arial"/>
                <a:ea typeface="Arial"/>
                <a:cs typeface="Arial"/>
              </a:defRPr>
            </a:lvl1pPr>
            <a:lvl2pPr>
              <a:defRPr sz="5700" b="1">
                <a:solidFill>
                  <a:srgbClr val="087F8C"/>
                </a:solidFill>
                <a:latin typeface="Arial"/>
                <a:ea typeface="Arial"/>
                <a:cs typeface="Arial"/>
              </a:defRPr>
            </a:lvl2pPr>
            <a:lvl3pPr>
              <a:defRPr sz="5700" b="1">
                <a:solidFill>
                  <a:srgbClr val="087F8C"/>
                </a:solidFill>
                <a:latin typeface="Arial"/>
                <a:ea typeface="Arial"/>
                <a:cs typeface="Arial"/>
              </a:defRPr>
            </a:lvl3pPr>
            <a:lvl4pPr>
              <a:defRPr sz="5700" b="1">
                <a:solidFill>
                  <a:srgbClr val="087F8C"/>
                </a:solidFill>
                <a:latin typeface="Arial"/>
                <a:ea typeface="Arial"/>
                <a:cs typeface="Arial"/>
              </a:defRPr>
            </a:lvl4pPr>
            <a:lvl5pPr>
              <a:defRPr sz="5700" b="1">
                <a:solidFill>
                  <a:srgbClr val="087F8C"/>
                </a:solidFill>
                <a:latin typeface="Arial"/>
                <a:ea typeface="Arial"/>
                <a:cs typeface="Arial"/>
              </a:defRPr>
            </a:lvl5pPr>
            <a:lvl6pPr>
              <a:defRPr sz="5700" b="1">
                <a:solidFill>
                  <a:srgbClr val="087F8C"/>
                </a:solidFill>
                <a:latin typeface="Arial"/>
                <a:ea typeface="Arial"/>
                <a:cs typeface="Arial"/>
              </a:defRPr>
            </a:lvl6pPr>
            <a:lvl7pPr>
              <a:defRPr sz="5700" b="1">
                <a:solidFill>
                  <a:srgbClr val="087F8C"/>
                </a:solidFill>
                <a:latin typeface="Arial"/>
                <a:ea typeface="Arial"/>
                <a:cs typeface="Arial"/>
              </a:defRPr>
            </a:lvl7pPr>
            <a:lvl8pPr>
              <a:defRPr sz="5700" b="1">
                <a:solidFill>
                  <a:srgbClr val="087F8C"/>
                </a:solidFill>
                <a:latin typeface="Arial"/>
                <a:ea typeface="Arial"/>
                <a:cs typeface="Arial"/>
              </a:defRPr>
            </a:lvl8pPr>
            <a:lvl9pPr>
              <a:defRPr sz="5700" b="1">
                <a:solidFill>
                  <a:srgbClr val="087F8C"/>
                </a:solidFill>
                <a:latin typeface="Arial"/>
                <a:ea typeface="Arial"/>
                <a:cs typeface="Arial"/>
              </a:defRPr>
            </a:lvl9pPr>
          </a:lstStyle>
          <a:p xmlns:a="http://schemas.openxmlformats.org/drawingml/2006/main">
            <a:pPr>
              <a:defRPr sz="5700" b="1">
                <a:solidFill>
                  <a:srgbClr val="087F8C"/>
                </a:solidFill>
                <a:latin typeface="Arial"/>
                <a:ea typeface="Arial"/>
                <a:cs typeface="Arial"/>
              </a:defRPr>
            </a:pPr>
            <a:r>
              <a:rPr sz="5700" b="1">
                <a:solidFill>
                  <a:srgbClr val="087F8C"/>
                </a:solidFill>
                <a:latin typeface="Arial"/>
                <a:ea typeface="Arial"/>
                <a:cs typeface="Arial"/>
              </a:rPr>
              <a:t>84.0%</a:t>
            </a:r>
          </a:p>
        </p:txBody>
      </p:sp>
      <p:sp>
        <p:nvSpPr>
          <p:cNvPr id="7" name="text-17">
            <a:extLst xmlns:a="http://schemas.openxmlformats.org/drawingml/2006/main">
              <a:ext uri="{FF2B5EF4-FFF2-40B4-BE49-F238E27FC236}">
                <a16:creationId xmlns:a16="http://schemas.microsoft.com/office/drawing/2014/main" id="{ADB9A392-89D2-46E2-9B88-4868B108C281}"/>
              </a:ext>
            </a:extLst>
          </p:cNvPr>
          <p:cNvSpPr>
            <a:spLocks xmlns:a="http://schemas.openxmlformats.org/drawingml/2006/main" noGrp="1"/>
          </p:cNvSpPr>
          <p:nvPr/>
        </p:nvSpPr>
        <p:spPr>
          <a:xfrm xmlns:a="http://schemas.openxmlformats.org/drawingml/2006/main">
            <a:off x="8572500" y="2990850"/>
            <a:ext cx="3086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A3D"/>
                </a:solidFill>
                <a:latin typeface="Arial"/>
                <a:ea typeface="Arial"/>
                <a:cs typeface="Arial"/>
              </a:defRPr>
            </a:defPPr>
            <a:lvl1pPr>
              <a:defRPr sz="2100" b="0">
                <a:solidFill>
                  <a:srgbClr val="142A3D"/>
                </a:solidFill>
                <a:latin typeface="Arial"/>
                <a:ea typeface="Arial"/>
                <a:cs typeface="Arial"/>
              </a:defRPr>
            </a:lvl1pPr>
            <a:lvl2pPr>
              <a:defRPr sz="2100" b="0">
                <a:solidFill>
                  <a:srgbClr val="142A3D"/>
                </a:solidFill>
                <a:latin typeface="Arial"/>
                <a:ea typeface="Arial"/>
                <a:cs typeface="Arial"/>
              </a:defRPr>
            </a:lvl2pPr>
            <a:lvl3pPr>
              <a:defRPr sz="2100" b="0">
                <a:solidFill>
                  <a:srgbClr val="142A3D"/>
                </a:solidFill>
                <a:latin typeface="Arial"/>
                <a:ea typeface="Arial"/>
                <a:cs typeface="Arial"/>
              </a:defRPr>
            </a:lvl3pPr>
            <a:lvl4pPr>
              <a:defRPr sz="2100" b="0">
                <a:solidFill>
                  <a:srgbClr val="142A3D"/>
                </a:solidFill>
                <a:latin typeface="Arial"/>
                <a:ea typeface="Arial"/>
                <a:cs typeface="Arial"/>
              </a:defRPr>
            </a:lvl4pPr>
            <a:lvl5pPr>
              <a:defRPr sz="2100" b="0">
                <a:solidFill>
                  <a:srgbClr val="142A3D"/>
                </a:solidFill>
                <a:latin typeface="Arial"/>
                <a:ea typeface="Arial"/>
                <a:cs typeface="Arial"/>
              </a:defRPr>
            </a:lvl5pPr>
            <a:lvl6pPr>
              <a:defRPr sz="2100" b="0">
                <a:solidFill>
                  <a:srgbClr val="142A3D"/>
                </a:solidFill>
                <a:latin typeface="Arial"/>
                <a:ea typeface="Arial"/>
                <a:cs typeface="Arial"/>
              </a:defRPr>
            </a:lvl6pPr>
            <a:lvl7pPr>
              <a:defRPr sz="2100" b="0">
                <a:solidFill>
                  <a:srgbClr val="142A3D"/>
                </a:solidFill>
                <a:latin typeface="Arial"/>
                <a:ea typeface="Arial"/>
                <a:cs typeface="Arial"/>
              </a:defRPr>
            </a:lvl7pPr>
            <a:lvl8pPr>
              <a:defRPr sz="2100" b="0">
                <a:solidFill>
                  <a:srgbClr val="142A3D"/>
                </a:solidFill>
                <a:latin typeface="Arial"/>
                <a:ea typeface="Arial"/>
                <a:cs typeface="Arial"/>
              </a:defRPr>
            </a:lvl8pPr>
            <a:lvl9pPr>
              <a:defRPr sz="2100" b="0">
                <a:solidFill>
                  <a:srgbClr val="142A3D"/>
                </a:solidFill>
                <a:latin typeface="Arial"/>
                <a:ea typeface="Arial"/>
                <a:cs typeface="Arial"/>
              </a:defRPr>
            </a:lvl9pPr>
          </a:lstStyle>
          <a:p xmlns:a="http://schemas.openxmlformats.org/drawingml/2006/main">
            <a:pPr>
              <a:defRPr sz="2100" b="0">
                <a:solidFill>
                  <a:srgbClr val="142A3D"/>
                </a:solidFill>
                <a:latin typeface="Arial"/>
                <a:ea typeface="Arial"/>
                <a:cs typeface="Arial"/>
              </a:defRPr>
            </a:pPr>
            <a:r>
              <a:rPr sz="2100" b="0">
                <a:solidFill>
                  <a:srgbClr val="142A3D"/>
                </a:solidFill>
                <a:latin typeface="Arial"/>
                <a:ea typeface="Arial"/>
                <a:cs typeface="Arial"/>
              </a:rPr>
              <a:t>2025 company</a:t>
            </a:r>
          </a:p>
          <a:p xmlns:a="http://schemas.openxmlformats.org/drawingml/2006/main">
            <a:pPr>
              <a:defRPr sz="2100" b="0">
                <a:solidFill>
                  <a:srgbClr val="142A3D"/>
                </a:solidFill>
                <a:latin typeface="Arial"/>
                <a:ea typeface="Arial"/>
                <a:cs typeface="Arial"/>
              </a:defRPr>
            </a:pPr>
            <a:r>
              <a:rPr sz="2100" b="0">
                <a:solidFill>
                  <a:srgbClr val="142A3D"/>
                </a:solidFill>
                <a:latin typeface="Arial"/>
                <a:ea typeface="Arial"/>
                <a:cs typeface="Arial"/>
              </a:rPr>
              <a:t>combined ratio</a:t>
            </a:r>
          </a:p>
        </p:txBody>
      </p:sp>
      <p:sp>
        <p:nvSpPr>
          <p:cNvPr id="8" name="text-18">
            <a:extLst xmlns:a="http://schemas.openxmlformats.org/drawingml/2006/main">
              <a:ext uri="{FF2B5EF4-FFF2-40B4-BE49-F238E27FC236}">
                <a16:creationId xmlns:a16="http://schemas.microsoft.com/office/drawing/2014/main" id="{3DFD302D-9BD9-4A67-B153-B031923956D9}"/>
              </a:ext>
            </a:extLst>
          </p:cNvPr>
          <p:cNvSpPr>
            <a:spLocks xmlns:a="http://schemas.openxmlformats.org/drawingml/2006/main" noGrp="1"/>
          </p:cNvSpPr>
          <p:nvPr/>
        </p:nvSpPr>
        <p:spPr>
          <a:xfrm xmlns:a="http://schemas.openxmlformats.org/drawingml/2006/main">
            <a:off x="8572500" y="4095750"/>
            <a:ext cx="3086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42A3D"/>
                </a:solidFill>
                <a:latin typeface="Arial"/>
                <a:ea typeface="Arial"/>
                <a:cs typeface="Arial"/>
              </a:defRPr>
            </a:defPPr>
            <a:lvl1pPr>
              <a:defRPr sz="2625" b="1">
                <a:solidFill>
                  <a:srgbClr val="142A3D"/>
                </a:solidFill>
                <a:latin typeface="Arial"/>
                <a:ea typeface="Arial"/>
                <a:cs typeface="Arial"/>
              </a:defRPr>
            </a:lvl1pPr>
            <a:lvl2pPr>
              <a:defRPr sz="2625" b="1">
                <a:solidFill>
                  <a:srgbClr val="142A3D"/>
                </a:solidFill>
                <a:latin typeface="Arial"/>
                <a:ea typeface="Arial"/>
                <a:cs typeface="Arial"/>
              </a:defRPr>
            </a:lvl2pPr>
            <a:lvl3pPr>
              <a:defRPr sz="2625" b="1">
                <a:solidFill>
                  <a:srgbClr val="142A3D"/>
                </a:solidFill>
                <a:latin typeface="Arial"/>
                <a:ea typeface="Arial"/>
                <a:cs typeface="Arial"/>
              </a:defRPr>
            </a:lvl3pPr>
            <a:lvl4pPr>
              <a:defRPr sz="2625" b="1">
                <a:solidFill>
                  <a:srgbClr val="142A3D"/>
                </a:solidFill>
                <a:latin typeface="Arial"/>
                <a:ea typeface="Arial"/>
                <a:cs typeface="Arial"/>
              </a:defRPr>
            </a:lvl4pPr>
            <a:lvl5pPr>
              <a:defRPr sz="2625" b="1">
                <a:solidFill>
                  <a:srgbClr val="142A3D"/>
                </a:solidFill>
                <a:latin typeface="Arial"/>
                <a:ea typeface="Arial"/>
                <a:cs typeface="Arial"/>
              </a:defRPr>
            </a:lvl5pPr>
            <a:lvl6pPr>
              <a:defRPr sz="2625" b="1">
                <a:solidFill>
                  <a:srgbClr val="142A3D"/>
                </a:solidFill>
                <a:latin typeface="Arial"/>
                <a:ea typeface="Arial"/>
                <a:cs typeface="Arial"/>
              </a:defRPr>
            </a:lvl6pPr>
            <a:lvl7pPr>
              <a:defRPr sz="2625" b="1">
                <a:solidFill>
                  <a:srgbClr val="142A3D"/>
                </a:solidFill>
                <a:latin typeface="Arial"/>
                <a:ea typeface="Arial"/>
                <a:cs typeface="Arial"/>
              </a:defRPr>
            </a:lvl7pPr>
            <a:lvl8pPr>
              <a:defRPr sz="2625" b="1">
                <a:solidFill>
                  <a:srgbClr val="142A3D"/>
                </a:solidFill>
                <a:latin typeface="Arial"/>
                <a:ea typeface="Arial"/>
                <a:cs typeface="Arial"/>
              </a:defRPr>
            </a:lvl8pPr>
            <a:lvl9pPr>
              <a:defRPr sz="2625" b="1">
                <a:solidFill>
                  <a:srgbClr val="142A3D"/>
                </a:solidFill>
                <a:latin typeface="Arial"/>
                <a:ea typeface="Arial"/>
                <a:cs typeface="Arial"/>
              </a:defRPr>
            </a:lvl9pPr>
          </a:lstStyle>
          <a:p xmlns:a="http://schemas.openxmlformats.org/drawingml/2006/main">
            <a:pPr>
              <a:defRPr sz="2625" b="1">
                <a:solidFill>
                  <a:srgbClr val="142A3D"/>
                </a:solidFill>
                <a:latin typeface="Arial"/>
                <a:ea typeface="Arial"/>
                <a:cs typeface="Arial"/>
              </a:defRPr>
            </a:pPr>
            <a:r>
              <a:rPr sz="2625" b="1">
                <a:solidFill>
                  <a:srgbClr val="142A3D"/>
                </a:solidFill>
                <a:latin typeface="Arial"/>
                <a:ea typeface="Arial"/>
                <a:cs typeface="Arial"/>
              </a:rPr>
              <a:t>CAD 133.45M</a:t>
            </a:r>
          </a:p>
        </p:txBody>
      </p:sp>
      <p:sp>
        <p:nvSpPr>
          <p:cNvPr id="9" name="text-19">
            <a:extLst xmlns:a="http://schemas.openxmlformats.org/drawingml/2006/main">
              <a:ext uri="{FF2B5EF4-FFF2-40B4-BE49-F238E27FC236}">
                <a16:creationId xmlns:a16="http://schemas.microsoft.com/office/drawing/2014/main" id="{81C0A86A-9132-448E-B01C-E547C21F4921}"/>
              </a:ext>
            </a:extLst>
          </p:cNvPr>
          <p:cNvSpPr>
            <a:spLocks xmlns:a="http://schemas.openxmlformats.org/drawingml/2006/main" noGrp="1"/>
          </p:cNvSpPr>
          <p:nvPr/>
        </p:nvSpPr>
        <p:spPr>
          <a:xfrm xmlns:a="http://schemas.openxmlformats.org/drawingml/2006/main">
            <a:off x="8572500" y="4686300"/>
            <a:ext cx="3086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27584"/>
                </a:solidFill>
                <a:latin typeface="Arial"/>
                <a:ea typeface="Arial"/>
                <a:cs typeface="Arial"/>
              </a:defRPr>
            </a:defPPr>
            <a:lvl1pPr>
              <a:defRPr sz="1800" b="0">
                <a:solidFill>
                  <a:srgbClr val="627584"/>
                </a:solidFill>
                <a:latin typeface="Arial"/>
                <a:ea typeface="Arial"/>
                <a:cs typeface="Arial"/>
              </a:defRPr>
            </a:lvl1pPr>
            <a:lvl2pPr>
              <a:defRPr sz="1800" b="0">
                <a:solidFill>
                  <a:srgbClr val="627584"/>
                </a:solidFill>
                <a:latin typeface="Arial"/>
                <a:ea typeface="Arial"/>
                <a:cs typeface="Arial"/>
              </a:defRPr>
            </a:lvl2pPr>
            <a:lvl3pPr>
              <a:defRPr sz="1800" b="0">
                <a:solidFill>
                  <a:srgbClr val="627584"/>
                </a:solidFill>
                <a:latin typeface="Arial"/>
                <a:ea typeface="Arial"/>
                <a:cs typeface="Arial"/>
              </a:defRPr>
            </a:lvl3pPr>
            <a:lvl4pPr>
              <a:defRPr sz="1800" b="0">
                <a:solidFill>
                  <a:srgbClr val="627584"/>
                </a:solidFill>
                <a:latin typeface="Arial"/>
                <a:ea typeface="Arial"/>
                <a:cs typeface="Arial"/>
              </a:defRPr>
            </a:lvl4pPr>
            <a:lvl5pPr>
              <a:defRPr sz="1800" b="0">
                <a:solidFill>
                  <a:srgbClr val="627584"/>
                </a:solidFill>
                <a:latin typeface="Arial"/>
                <a:ea typeface="Arial"/>
                <a:cs typeface="Arial"/>
              </a:defRPr>
            </a:lvl5pPr>
            <a:lvl6pPr>
              <a:defRPr sz="1800" b="0">
                <a:solidFill>
                  <a:srgbClr val="627584"/>
                </a:solidFill>
                <a:latin typeface="Arial"/>
                <a:ea typeface="Arial"/>
                <a:cs typeface="Arial"/>
              </a:defRPr>
            </a:lvl6pPr>
            <a:lvl7pPr>
              <a:defRPr sz="1800" b="0">
                <a:solidFill>
                  <a:srgbClr val="627584"/>
                </a:solidFill>
                <a:latin typeface="Arial"/>
                <a:ea typeface="Arial"/>
                <a:cs typeface="Arial"/>
              </a:defRPr>
            </a:lvl7pPr>
            <a:lvl8pPr>
              <a:defRPr sz="1800" b="0">
                <a:solidFill>
                  <a:srgbClr val="627584"/>
                </a:solidFill>
                <a:latin typeface="Arial"/>
                <a:ea typeface="Arial"/>
                <a:cs typeface="Arial"/>
              </a:defRPr>
            </a:lvl8pPr>
            <a:lvl9pPr>
              <a:defRPr sz="1800" b="0">
                <a:solidFill>
                  <a:srgbClr val="627584"/>
                </a:solidFill>
                <a:latin typeface="Arial"/>
                <a:ea typeface="Arial"/>
                <a:cs typeface="Arial"/>
              </a:defRPr>
            </a:lvl9pPr>
          </a:lstStyle>
          <a:p xmlns:a="http://schemas.openxmlformats.org/drawingml/2006/main">
            <a:pPr>
              <a:defRPr sz="1800" b="0">
                <a:solidFill>
                  <a:srgbClr val="627584"/>
                </a:solidFill>
                <a:latin typeface="Arial"/>
                <a:ea typeface="Arial"/>
                <a:cs typeface="Arial"/>
              </a:defRPr>
            </a:pPr>
            <a:r>
              <a:rPr sz="1800" b="0">
                <a:solidFill>
                  <a:srgbClr val="627584"/>
                </a:solidFill>
                <a:latin typeface="Arial"/>
                <a:ea typeface="Arial"/>
                <a:cs typeface="Arial"/>
              </a:rPr>
              <a:t>2025 underwriting profit</a:t>
            </a:r>
          </a:p>
        </p:txBody>
      </p:sp>
      <p:sp>
        <p:nvSpPr>
          <p:cNvPr id="10" name="text-20">
            <a:extLst xmlns:a="http://schemas.openxmlformats.org/drawingml/2006/main">
              <a:ext uri="{FF2B5EF4-FFF2-40B4-BE49-F238E27FC236}">
                <a16:creationId xmlns:a16="http://schemas.microsoft.com/office/drawing/2014/main" id="{65521188-E0C8-45A0-81E2-42749EBD726E}"/>
              </a:ext>
            </a:extLst>
          </p:cNvPr>
          <p:cNvSpPr>
            <a:spLocks xmlns:a="http://schemas.openxmlformats.org/drawingml/2006/main" noGrp="1"/>
          </p:cNvSpPr>
          <p:nvPr/>
        </p:nvSpPr>
        <p:spPr>
          <a:xfrm xmlns:a="http://schemas.openxmlformats.org/drawingml/2006/main">
            <a:off x="533400" y="572452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2A3D"/>
                </a:solidFill>
                <a:latin typeface="Arial"/>
                <a:ea typeface="Arial"/>
                <a:cs typeface="Arial"/>
              </a:defRPr>
            </a:defPPr>
            <a:lvl1pPr>
              <a:defRPr sz="2175" b="1">
                <a:solidFill>
                  <a:srgbClr val="142A3D"/>
                </a:solidFill>
                <a:latin typeface="Arial"/>
                <a:ea typeface="Arial"/>
                <a:cs typeface="Arial"/>
              </a:defRPr>
            </a:lvl1pPr>
            <a:lvl2pPr>
              <a:defRPr sz="2175" b="1">
                <a:solidFill>
                  <a:srgbClr val="142A3D"/>
                </a:solidFill>
                <a:latin typeface="Arial"/>
                <a:ea typeface="Arial"/>
                <a:cs typeface="Arial"/>
              </a:defRPr>
            </a:lvl2pPr>
            <a:lvl3pPr>
              <a:defRPr sz="2175" b="1">
                <a:solidFill>
                  <a:srgbClr val="142A3D"/>
                </a:solidFill>
                <a:latin typeface="Arial"/>
                <a:ea typeface="Arial"/>
                <a:cs typeface="Arial"/>
              </a:defRPr>
            </a:lvl3pPr>
            <a:lvl4pPr>
              <a:defRPr sz="2175" b="1">
                <a:solidFill>
                  <a:srgbClr val="142A3D"/>
                </a:solidFill>
                <a:latin typeface="Arial"/>
                <a:ea typeface="Arial"/>
                <a:cs typeface="Arial"/>
              </a:defRPr>
            </a:lvl4pPr>
            <a:lvl5pPr>
              <a:defRPr sz="2175" b="1">
                <a:solidFill>
                  <a:srgbClr val="142A3D"/>
                </a:solidFill>
                <a:latin typeface="Arial"/>
                <a:ea typeface="Arial"/>
                <a:cs typeface="Arial"/>
              </a:defRPr>
            </a:lvl5pPr>
            <a:lvl6pPr>
              <a:defRPr sz="2175" b="1">
                <a:solidFill>
                  <a:srgbClr val="142A3D"/>
                </a:solidFill>
                <a:latin typeface="Arial"/>
                <a:ea typeface="Arial"/>
                <a:cs typeface="Arial"/>
              </a:defRPr>
            </a:lvl6pPr>
            <a:lvl7pPr>
              <a:defRPr sz="2175" b="1">
                <a:solidFill>
                  <a:srgbClr val="142A3D"/>
                </a:solidFill>
                <a:latin typeface="Arial"/>
                <a:ea typeface="Arial"/>
                <a:cs typeface="Arial"/>
              </a:defRPr>
            </a:lvl7pPr>
            <a:lvl8pPr>
              <a:defRPr sz="2175" b="1">
                <a:solidFill>
                  <a:srgbClr val="142A3D"/>
                </a:solidFill>
                <a:latin typeface="Arial"/>
                <a:ea typeface="Arial"/>
                <a:cs typeface="Arial"/>
              </a:defRPr>
            </a:lvl8pPr>
            <a:lvl9pPr>
              <a:defRPr sz="2175" b="1">
                <a:solidFill>
                  <a:srgbClr val="142A3D"/>
                </a:solidFill>
                <a:latin typeface="Arial"/>
                <a:ea typeface="Arial"/>
                <a:cs typeface="Arial"/>
              </a:defRPr>
            </a:lvl9pPr>
          </a:lstStyle>
          <a:p xmlns:a="http://schemas.openxmlformats.org/drawingml/2006/main">
            <a:pPr>
              <a:defRPr sz="2175" b="1">
                <a:solidFill>
                  <a:srgbClr val="142A3D"/>
                </a:solidFill>
                <a:latin typeface="Arial"/>
                <a:ea typeface="Arial"/>
                <a:cs typeface="Arial"/>
              </a:defRPr>
            </a:pPr>
            <a:r>
              <a:rPr sz="2175" b="1">
                <a:solidFill>
                  <a:srgbClr val="142A3D"/>
                </a:solidFill>
                <a:latin typeface="Arial"/>
                <a:ea typeface="Arial"/>
                <a:cs typeface="Arial"/>
              </a:rPr>
              <a:t>Available capital and reinsurance remain launch conditions.</a:t>
            </a:r>
          </a:p>
        </p:txBody>
      </p:sp>
    </p:spTree>
    <p:extLst>
      <p:ext uri="{BB962C8B-B14F-4D97-AF65-F5344CB8AC3E}">
        <p14:creationId xmlns:p14="http://schemas.microsoft.com/office/powerpoint/2010/main" val="1728875697"/>
      </p:ext>
    </p:extLst>
  </p:cSld>
</p:sld>
</file>

<file path=ppt/slides/slide4.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21">
            <a:extLst xmlns:a="http://schemas.openxmlformats.org/drawingml/2006/main">
              <a:ext uri="{FF2B5EF4-FFF2-40B4-BE49-F238E27FC236}">
                <a16:creationId xmlns:a16="http://schemas.microsoft.com/office/drawing/2014/main" id="{6B51A07B-D77F-44D6-9345-13E6E60731EC}"/>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Autonomous failures concentrate estimated severity</a:t>
            </a:r>
          </a:p>
        </p:txBody>
      </p:sp>
      <p:sp>
        <p:nvSpPr>
          <p:cNvPr id="3" name="text-22">
            <a:extLst xmlns:a="http://schemas.openxmlformats.org/drawingml/2006/main">
              <a:ext uri="{FF2B5EF4-FFF2-40B4-BE49-F238E27FC236}">
                <a16:creationId xmlns:a16="http://schemas.microsoft.com/office/drawing/2014/main" id="{4EEB7A4A-E90A-497F-9D14-98B8086436A1}"/>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Source: Exhibit B, 135 external incidents. Estimated insured losses in CAD, not TSI claims.</a:t>
            </a:r>
          </a:p>
        </p:txBody>
      </p:sp>
      <p:sp>
        <p:nvSpPr>
          <p:cNvPr id="4" name="text-23">
            <a:extLst xmlns:a="http://schemas.openxmlformats.org/drawingml/2006/main">
              <a:ext uri="{FF2B5EF4-FFF2-40B4-BE49-F238E27FC236}">
                <a16:creationId xmlns:a16="http://schemas.microsoft.com/office/drawing/2014/main" id="{28B52284-32AA-4EBF-A423-F45E0CD668E0}"/>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04</a:t>
            </a:r>
          </a:p>
        </p:txBody>
      </p:sp>
      <p:graphicFrame>
        <p:nvGraphicFramePr>
          <p:cNvPr id="5" name="Chart">
            <a:extLst xmlns:a="http://schemas.openxmlformats.org/drawingml/2006/main">
              <a:ext uri="{FF2B5EF4-FFF2-40B4-BE49-F238E27FC236}">
                <a16:creationId xmlns:a16="http://schemas.microsoft.com/office/drawing/2014/main" id="{8F5CDE9D-A851-4B51-8AD6-DF65F6AD8C13}"/>
              </a:ext>
            </a:extLst>
          </p:cNvPr>
          <p:cNvGraphicFramePr/>
          <p:nvPr/>
        </p:nvGraphicFramePr>
        <p:xfrm>
          <a:off xmlns:a="http://schemas.openxmlformats.org/drawingml/2006/main" x="419100" y="16287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039b3c127fe74cfe"/>
          </a:graphicData>
        </a:graphic>
      </p:graphicFrame>
      <p:sp>
        <p:nvSpPr>
          <p:cNvPr id="6" name="text-24">
            <a:extLst xmlns:a="http://schemas.openxmlformats.org/drawingml/2006/main">
              <a:ext uri="{FF2B5EF4-FFF2-40B4-BE49-F238E27FC236}">
                <a16:creationId xmlns:a16="http://schemas.microsoft.com/office/drawing/2014/main" id="{59678298-6F53-4863-AC1F-74A2F2E4EAFE}"/>
              </a:ext>
            </a:extLst>
          </p:cNvPr>
          <p:cNvSpPr>
            <a:spLocks xmlns:a="http://schemas.openxmlformats.org/drawingml/2006/main" noGrp="1"/>
          </p:cNvSpPr>
          <p:nvPr/>
        </p:nvSpPr>
        <p:spPr>
          <a:xfrm xmlns:a="http://schemas.openxmlformats.org/drawingml/2006/main">
            <a:off x="8896350" y="223837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C75653"/>
                </a:solidFill>
                <a:latin typeface="Arial"/>
                <a:ea typeface="Arial"/>
                <a:cs typeface="Arial"/>
              </a:defRPr>
            </a:defPPr>
            <a:lvl1pPr>
              <a:defRPr sz="5250" b="1">
                <a:solidFill>
                  <a:srgbClr val="C75653"/>
                </a:solidFill>
                <a:latin typeface="Arial"/>
                <a:ea typeface="Arial"/>
                <a:cs typeface="Arial"/>
              </a:defRPr>
            </a:lvl1pPr>
            <a:lvl2pPr>
              <a:defRPr sz="5250" b="1">
                <a:solidFill>
                  <a:srgbClr val="C75653"/>
                </a:solidFill>
                <a:latin typeface="Arial"/>
                <a:ea typeface="Arial"/>
                <a:cs typeface="Arial"/>
              </a:defRPr>
            </a:lvl2pPr>
            <a:lvl3pPr>
              <a:defRPr sz="5250" b="1">
                <a:solidFill>
                  <a:srgbClr val="C75653"/>
                </a:solidFill>
                <a:latin typeface="Arial"/>
                <a:ea typeface="Arial"/>
                <a:cs typeface="Arial"/>
              </a:defRPr>
            </a:lvl3pPr>
            <a:lvl4pPr>
              <a:defRPr sz="5250" b="1">
                <a:solidFill>
                  <a:srgbClr val="C75653"/>
                </a:solidFill>
                <a:latin typeface="Arial"/>
                <a:ea typeface="Arial"/>
                <a:cs typeface="Arial"/>
              </a:defRPr>
            </a:lvl4pPr>
            <a:lvl5pPr>
              <a:defRPr sz="5250" b="1">
                <a:solidFill>
                  <a:srgbClr val="C75653"/>
                </a:solidFill>
                <a:latin typeface="Arial"/>
                <a:ea typeface="Arial"/>
                <a:cs typeface="Arial"/>
              </a:defRPr>
            </a:lvl5pPr>
            <a:lvl6pPr>
              <a:defRPr sz="5250" b="1">
                <a:solidFill>
                  <a:srgbClr val="C75653"/>
                </a:solidFill>
                <a:latin typeface="Arial"/>
                <a:ea typeface="Arial"/>
                <a:cs typeface="Arial"/>
              </a:defRPr>
            </a:lvl6pPr>
            <a:lvl7pPr>
              <a:defRPr sz="5250" b="1">
                <a:solidFill>
                  <a:srgbClr val="C75653"/>
                </a:solidFill>
                <a:latin typeface="Arial"/>
                <a:ea typeface="Arial"/>
                <a:cs typeface="Arial"/>
              </a:defRPr>
            </a:lvl7pPr>
            <a:lvl8pPr>
              <a:defRPr sz="5250" b="1">
                <a:solidFill>
                  <a:srgbClr val="C75653"/>
                </a:solidFill>
                <a:latin typeface="Arial"/>
                <a:ea typeface="Arial"/>
                <a:cs typeface="Arial"/>
              </a:defRPr>
            </a:lvl8pPr>
            <a:lvl9pPr>
              <a:defRPr sz="5250" b="1">
                <a:solidFill>
                  <a:srgbClr val="C75653"/>
                </a:solidFill>
                <a:latin typeface="Arial"/>
                <a:ea typeface="Arial"/>
                <a:cs typeface="Arial"/>
              </a:defRPr>
            </a:lvl9pPr>
          </a:lstStyle>
          <a:p xmlns:a="http://schemas.openxmlformats.org/drawingml/2006/main">
            <a:pPr>
              <a:defRPr sz="5250" b="1">
                <a:solidFill>
                  <a:srgbClr val="C75653"/>
                </a:solidFill>
                <a:latin typeface="Arial"/>
                <a:ea typeface="Arial"/>
                <a:cs typeface="Arial"/>
              </a:defRPr>
            </a:pPr>
            <a:r>
              <a:rPr sz="5250" b="1">
                <a:solidFill>
                  <a:srgbClr val="C75653"/>
                </a:solidFill>
                <a:latin typeface="Arial"/>
                <a:ea typeface="Arial"/>
                <a:cs typeface="Arial"/>
              </a:rPr>
              <a:t>40.2%</a:t>
            </a:r>
          </a:p>
        </p:txBody>
      </p:sp>
      <p:sp>
        <p:nvSpPr>
          <p:cNvPr id="7" name="text-25">
            <a:extLst xmlns:a="http://schemas.openxmlformats.org/drawingml/2006/main">
              <a:ext uri="{FF2B5EF4-FFF2-40B4-BE49-F238E27FC236}">
                <a16:creationId xmlns:a16="http://schemas.microsoft.com/office/drawing/2014/main" id="{65567DBF-796E-4093-B38D-DE5B241C9D64}"/>
              </a:ext>
            </a:extLst>
          </p:cNvPr>
          <p:cNvSpPr>
            <a:spLocks xmlns:a="http://schemas.openxmlformats.org/drawingml/2006/main" noGrp="1"/>
          </p:cNvSpPr>
          <p:nvPr/>
        </p:nvSpPr>
        <p:spPr>
          <a:xfrm xmlns:a="http://schemas.openxmlformats.org/drawingml/2006/main">
            <a:off x="8896350" y="3333750"/>
            <a:ext cx="276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A3D"/>
                </a:solidFill>
                <a:latin typeface="Arial"/>
                <a:ea typeface="Arial"/>
                <a:cs typeface="Arial"/>
              </a:defRPr>
            </a:defPPr>
            <a:lvl1pPr>
              <a:defRPr sz="2100" b="0">
                <a:solidFill>
                  <a:srgbClr val="142A3D"/>
                </a:solidFill>
                <a:latin typeface="Arial"/>
                <a:ea typeface="Arial"/>
                <a:cs typeface="Arial"/>
              </a:defRPr>
            </a:lvl1pPr>
            <a:lvl2pPr>
              <a:defRPr sz="2100" b="0">
                <a:solidFill>
                  <a:srgbClr val="142A3D"/>
                </a:solidFill>
                <a:latin typeface="Arial"/>
                <a:ea typeface="Arial"/>
                <a:cs typeface="Arial"/>
              </a:defRPr>
            </a:lvl2pPr>
            <a:lvl3pPr>
              <a:defRPr sz="2100" b="0">
                <a:solidFill>
                  <a:srgbClr val="142A3D"/>
                </a:solidFill>
                <a:latin typeface="Arial"/>
                <a:ea typeface="Arial"/>
                <a:cs typeface="Arial"/>
              </a:defRPr>
            </a:lvl3pPr>
            <a:lvl4pPr>
              <a:defRPr sz="2100" b="0">
                <a:solidFill>
                  <a:srgbClr val="142A3D"/>
                </a:solidFill>
                <a:latin typeface="Arial"/>
                <a:ea typeface="Arial"/>
                <a:cs typeface="Arial"/>
              </a:defRPr>
            </a:lvl4pPr>
            <a:lvl5pPr>
              <a:defRPr sz="2100" b="0">
                <a:solidFill>
                  <a:srgbClr val="142A3D"/>
                </a:solidFill>
                <a:latin typeface="Arial"/>
                <a:ea typeface="Arial"/>
                <a:cs typeface="Arial"/>
              </a:defRPr>
            </a:lvl5pPr>
            <a:lvl6pPr>
              <a:defRPr sz="2100" b="0">
                <a:solidFill>
                  <a:srgbClr val="142A3D"/>
                </a:solidFill>
                <a:latin typeface="Arial"/>
                <a:ea typeface="Arial"/>
                <a:cs typeface="Arial"/>
              </a:defRPr>
            </a:lvl6pPr>
            <a:lvl7pPr>
              <a:defRPr sz="2100" b="0">
                <a:solidFill>
                  <a:srgbClr val="142A3D"/>
                </a:solidFill>
                <a:latin typeface="Arial"/>
                <a:ea typeface="Arial"/>
                <a:cs typeface="Arial"/>
              </a:defRPr>
            </a:lvl7pPr>
            <a:lvl8pPr>
              <a:defRPr sz="2100" b="0">
                <a:solidFill>
                  <a:srgbClr val="142A3D"/>
                </a:solidFill>
                <a:latin typeface="Arial"/>
                <a:ea typeface="Arial"/>
                <a:cs typeface="Arial"/>
              </a:defRPr>
            </a:lvl8pPr>
            <a:lvl9pPr>
              <a:defRPr sz="2100" b="0">
                <a:solidFill>
                  <a:srgbClr val="142A3D"/>
                </a:solidFill>
                <a:latin typeface="Arial"/>
                <a:ea typeface="Arial"/>
                <a:cs typeface="Arial"/>
              </a:defRPr>
            </a:lvl9pPr>
          </a:lstStyle>
          <a:p xmlns:a="http://schemas.openxmlformats.org/drawingml/2006/main">
            <a:pPr>
              <a:defRPr sz="2100" b="0">
                <a:solidFill>
                  <a:srgbClr val="142A3D"/>
                </a:solidFill>
                <a:latin typeface="Arial"/>
                <a:ea typeface="Arial"/>
                <a:cs typeface="Arial"/>
              </a:defRPr>
            </a:pPr>
            <a:r>
              <a:rPr sz="2100" b="0">
                <a:solidFill>
                  <a:srgbClr val="142A3D"/>
                </a:solidFill>
                <a:latin typeface="Arial"/>
                <a:ea typeface="Arial"/>
                <a:cs typeface="Arial"/>
              </a:rPr>
              <a:t>of estimated loss</a:t>
            </a:r>
          </a:p>
          <a:p xmlns:a="http://schemas.openxmlformats.org/drawingml/2006/main">
            <a:pPr>
              <a:defRPr sz="2100" b="0">
                <a:solidFill>
                  <a:srgbClr val="142A3D"/>
                </a:solidFill>
                <a:latin typeface="Arial"/>
                <a:ea typeface="Arial"/>
                <a:cs typeface="Arial"/>
              </a:defRPr>
            </a:pPr>
            <a:r>
              <a:rPr sz="2100" b="0">
                <a:solidFill>
                  <a:srgbClr val="142A3D"/>
                </a:solidFill>
                <a:latin typeface="Arial"/>
                <a:ea typeface="Arial"/>
                <a:cs typeface="Arial"/>
              </a:rPr>
              <a:t>from 9 autonomous</a:t>
            </a:r>
          </a:p>
          <a:p xmlns:a="http://schemas.openxmlformats.org/drawingml/2006/main">
            <a:pPr>
              <a:defRPr sz="2100" b="0">
                <a:solidFill>
                  <a:srgbClr val="142A3D"/>
                </a:solidFill>
                <a:latin typeface="Arial"/>
                <a:ea typeface="Arial"/>
                <a:cs typeface="Arial"/>
              </a:defRPr>
            </a:pPr>
            <a:r>
              <a:rPr sz="2100" b="0">
                <a:solidFill>
                  <a:srgbClr val="142A3D"/>
                </a:solidFill>
                <a:latin typeface="Arial"/>
                <a:ea typeface="Arial"/>
                <a:cs typeface="Arial"/>
              </a:rPr>
              <a:t>failures</a:t>
            </a:r>
          </a:p>
        </p:txBody>
      </p:sp>
      <p:sp>
        <p:nvSpPr>
          <p:cNvPr id="8" name="text-26">
            <a:extLst xmlns:a="http://schemas.openxmlformats.org/drawingml/2006/main">
              <a:ext uri="{FF2B5EF4-FFF2-40B4-BE49-F238E27FC236}">
                <a16:creationId xmlns:a16="http://schemas.microsoft.com/office/drawing/2014/main" id="{4748DFC7-95F9-49B5-AF21-B6AABCD23CB3}"/>
              </a:ext>
            </a:extLst>
          </p:cNvPr>
          <p:cNvSpPr>
            <a:spLocks xmlns:a="http://schemas.openxmlformats.org/drawingml/2006/main" noGrp="1"/>
          </p:cNvSpPr>
          <p:nvPr/>
        </p:nvSpPr>
        <p:spPr>
          <a:xfrm xmlns:a="http://schemas.openxmlformats.org/drawingml/2006/main">
            <a:off x="533400" y="576262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27584"/>
                </a:solidFill>
                <a:latin typeface="Arial"/>
                <a:ea typeface="Arial"/>
                <a:cs typeface="Arial"/>
              </a:defRPr>
            </a:defPPr>
            <a:lvl1pPr>
              <a:defRPr sz="1800" b="0">
                <a:solidFill>
                  <a:srgbClr val="627584"/>
                </a:solidFill>
                <a:latin typeface="Arial"/>
                <a:ea typeface="Arial"/>
                <a:cs typeface="Arial"/>
              </a:defRPr>
            </a:lvl1pPr>
            <a:lvl2pPr>
              <a:defRPr sz="1800" b="0">
                <a:solidFill>
                  <a:srgbClr val="627584"/>
                </a:solidFill>
                <a:latin typeface="Arial"/>
                <a:ea typeface="Arial"/>
                <a:cs typeface="Arial"/>
              </a:defRPr>
            </a:lvl2pPr>
            <a:lvl3pPr>
              <a:defRPr sz="1800" b="0">
                <a:solidFill>
                  <a:srgbClr val="627584"/>
                </a:solidFill>
                <a:latin typeface="Arial"/>
                <a:ea typeface="Arial"/>
                <a:cs typeface="Arial"/>
              </a:defRPr>
            </a:lvl3pPr>
            <a:lvl4pPr>
              <a:defRPr sz="1800" b="0">
                <a:solidFill>
                  <a:srgbClr val="627584"/>
                </a:solidFill>
                <a:latin typeface="Arial"/>
                <a:ea typeface="Arial"/>
                <a:cs typeface="Arial"/>
              </a:defRPr>
            </a:lvl4pPr>
            <a:lvl5pPr>
              <a:defRPr sz="1800" b="0">
                <a:solidFill>
                  <a:srgbClr val="627584"/>
                </a:solidFill>
                <a:latin typeface="Arial"/>
                <a:ea typeface="Arial"/>
                <a:cs typeface="Arial"/>
              </a:defRPr>
            </a:lvl5pPr>
            <a:lvl6pPr>
              <a:defRPr sz="1800" b="0">
                <a:solidFill>
                  <a:srgbClr val="627584"/>
                </a:solidFill>
                <a:latin typeface="Arial"/>
                <a:ea typeface="Arial"/>
                <a:cs typeface="Arial"/>
              </a:defRPr>
            </a:lvl6pPr>
            <a:lvl7pPr>
              <a:defRPr sz="1800" b="0">
                <a:solidFill>
                  <a:srgbClr val="627584"/>
                </a:solidFill>
                <a:latin typeface="Arial"/>
                <a:ea typeface="Arial"/>
                <a:cs typeface="Arial"/>
              </a:defRPr>
            </a:lvl7pPr>
            <a:lvl8pPr>
              <a:defRPr sz="1800" b="0">
                <a:solidFill>
                  <a:srgbClr val="627584"/>
                </a:solidFill>
                <a:latin typeface="Arial"/>
                <a:ea typeface="Arial"/>
                <a:cs typeface="Arial"/>
              </a:defRPr>
            </a:lvl8pPr>
            <a:lvl9pPr>
              <a:defRPr sz="1800" b="0">
                <a:solidFill>
                  <a:srgbClr val="627584"/>
                </a:solidFill>
                <a:latin typeface="Arial"/>
                <a:ea typeface="Arial"/>
                <a:cs typeface="Arial"/>
              </a:defRPr>
            </a:lvl9pPr>
          </a:lstStyle>
          <a:p xmlns:a="http://schemas.openxmlformats.org/drawingml/2006/main">
            <a:pPr>
              <a:defRPr sz="1800" b="0">
                <a:solidFill>
                  <a:srgbClr val="627584"/>
                </a:solidFill>
                <a:latin typeface="Arial"/>
                <a:ea typeface="Arial"/>
                <a:cs typeface="Arial"/>
              </a:defRPr>
            </a:pPr>
            <a:r>
              <a:rPr sz="1800" b="0">
                <a:solidFill>
                  <a:srgbClr val="627584"/>
                </a:solidFill>
                <a:latin typeface="Arial"/>
                <a:ea typeface="Arial"/>
                <a:cs typeface="Arial"/>
              </a:rPr>
              <a:t>Mean estimated insured loss (CAD millions). Counts appear in brackets.</a:t>
            </a:r>
          </a:p>
        </p:txBody>
      </p:sp>
    </p:spTree>
    <p:extLst>
      <p:ext uri="{BB962C8B-B14F-4D97-AF65-F5344CB8AC3E}">
        <p14:creationId xmlns:p14="http://schemas.microsoft.com/office/powerpoint/2010/main" val="1989651793"/>
      </p:ext>
    </p:extLst>
  </p:cSld>
</p:sld>
</file>

<file path=ppt/slides/slide5.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27">
            <a:extLst xmlns:a="http://schemas.openxmlformats.org/drawingml/2006/main">
              <a:ext uri="{FF2B5EF4-FFF2-40B4-BE49-F238E27FC236}">
                <a16:creationId xmlns:a16="http://schemas.microsoft.com/office/drawing/2014/main" id="{6EF87316-8E1A-42C4-A55A-947752ADF763}"/>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The initial candidate group is much smaller</a:t>
            </a:r>
          </a:p>
        </p:txBody>
      </p:sp>
      <p:sp>
        <p:nvSpPr>
          <p:cNvPr id="3" name="text-28">
            <a:extLst xmlns:a="http://schemas.openxmlformats.org/drawingml/2006/main">
              <a:ext uri="{FF2B5EF4-FFF2-40B4-BE49-F238E27FC236}">
                <a16:creationId xmlns:a16="http://schemas.microsoft.com/office/drawing/2014/main" id="{CDC0B3A7-3F33-42EB-9B8D-3F84B357D822}"/>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Source: Exhibit B. Supervised hallucination and misinformation, before coverage eligibility review.</a:t>
            </a:r>
          </a:p>
        </p:txBody>
      </p:sp>
      <p:sp>
        <p:nvSpPr>
          <p:cNvPr id="4" name="text-29">
            <a:extLst xmlns:a="http://schemas.openxmlformats.org/drawingml/2006/main">
              <a:ext uri="{FF2B5EF4-FFF2-40B4-BE49-F238E27FC236}">
                <a16:creationId xmlns:a16="http://schemas.microsoft.com/office/drawing/2014/main" id="{EF0F0CE1-C07F-4DA3-BE8E-9EEB2EF963FE}"/>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61E30132-C147-4454-9D4C-FEFA24CFFFF5}"/>
              </a:ext>
            </a:extLst>
          </p:cNvPr>
          <p:cNvGraphicFramePr/>
          <p:nvPr/>
        </p:nvGraphicFramePr>
        <p:xfrm>
          <a:off xmlns:a="http://schemas.openxmlformats.org/drawingml/2006/main" x="419100" y="1809750"/>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5d22a4a937d74efa"/>
          </a:graphicData>
        </a:graphic>
      </p:graphicFrame>
      <p:sp>
        <p:nvSpPr>
          <p:cNvPr id="6" name="text-30">
            <a:extLst xmlns:a="http://schemas.openxmlformats.org/drawingml/2006/main">
              <a:ext uri="{FF2B5EF4-FFF2-40B4-BE49-F238E27FC236}">
                <a16:creationId xmlns:a16="http://schemas.microsoft.com/office/drawing/2014/main" id="{3490A867-78B3-4B53-A49A-E2F5C5AA9A77}"/>
              </a:ext>
            </a:extLst>
          </p:cNvPr>
          <p:cNvSpPr>
            <a:spLocks xmlns:a="http://schemas.openxmlformats.org/drawingml/2006/main" noGrp="1"/>
          </p:cNvSpPr>
          <p:nvPr/>
        </p:nvSpPr>
        <p:spPr>
          <a:xfrm xmlns:a="http://schemas.openxmlformats.org/drawingml/2006/main">
            <a:off x="7905750" y="1943100"/>
            <a:ext cx="375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087F8C"/>
                </a:solidFill>
                <a:latin typeface="Arial"/>
                <a:ea typeface="Arial"/>
                <a:cs typeface="Arial"/>
              </a:defRPr>
            </a:defPPr>
            <a:lvl1pPr>
              <a:defRPr sz="2850" b="1">
                <a:solidFill>
                  <a:srgbClr val="087F8C"/>
                </a:solidFill>
                <a:latin typeface="Arial"/>
                <a:ea typeface="Arial"/>
                <a:cs typeface="Arial"/>
              </a:defRPr>
            </a:lvl1pPr>
            <a:lvl2pPr>
              <a:defRPr sz="2850" b="1">
                <a:solidFill>
                  <a:srgbClr val="087F8C"/>
                </a:solidFill>
                <a:latin typeface="Arial"/>
                <a:ea typeface="Arial"/>
                <a:cs typeface="Arial"/>
              </a:defRPr>
            </a:lvl2pPr>
            <a:lvl3pPr>
              <a:defRPr sz="2850" b="1">
                <a:solidFill>
                  <a:srgbClr val="087F8C"/>
                </a:solidFill>
                <a:latin typeface="Arial"/>
                <a:ea typeface="Arial"/>
                <a:cs typeface="Arial"/>
              </a:defRPr>
            </a:lvl3pPr>
            <a:lvl4pPr>
              <a:defRPr sz="2850" b="1">
                <a:solidFill>
                  <a:srgbClr val="087F8C"/>
                </a:solidFill>
                <a:latin typeface="Arial"/>
                <a:ea typeface="Arial"/>
                <a:cs typeface="Arial"/>
              </a:defRPr>
            </a:lvl4pPr>
            <a:lvl5pPr>
              <a:defRPr sz="2850" b="1">
                <a:solidFill>
                  <a:srgbClr val="087F8C"/>
                </a:solidFill>
                <a:latin typeface="Arial"/>
                <a:ea typeface="Arial"/>
                <a:cs typeface="Arial"/>
              </a:defRPr>
            </a:lvl5pPr>
            <a:lvl6pPr>
              <a:defRPr sz="2850" b="1">
                <a:solidFill>
                  <a:srgbClr val="087F8C"/>
                </a:solidFill>
                <a:latin typeface="Arial"/>
                <a:ea typeface="Arial"/>
                <a:cs typeface="Arial"/>
              </a:defRPr>
            </a:lvl6pPr>
            <a:lvl7pPr>
              <a:defRPr sz="2850" b="1">
                <a:solidFill>
                  <a:srgbClr val="087F8C"/>
                </a:solidFill>
                <a:latin typeface="Arial"/>
                <a:ea typeface="Arial"/>
                <a:cs typeface="Arial"/>
              </a:defRPr>
            </a:lvl7pPr>
            <a:lvl8pPr>
              <a:defRPr sz="2850" b="1">
                <a:solidFill>
                  <a:srgbClr val="087F8C"/>
                </a:solidFill>
                <a:latin typeface="Arial"/>
                <a:ea typeface="Arial"/>
                <a:cs typeface="Arial"/>
              </a:defRPr>
            </a:lvl8pPr>
            <a:lvl9pPr>
              <a:defRPr sz="2850" b="1">
                <a:solidFill>
                  <a:srgbClr val="087F8C"/>
                </a:solidFill>
                <a:latin typeface="Arial"/>
                <a:ea typeface="Arial"/>
                <a:cs typeface="Arial"/>
              </a:defRPr>
            </a:lvl9pPr>
          </a:lstStyle>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28 observations</a:t>
            </a:r>
          </a:p>
        </p:txBody>
      </p:sp>
      <p:sp>
        <p:nvSpPr>
          <p:cNvPr id="7" name="text-31">
            <a:extLst xmlns:a="http://schemas.openxmlformats.org/drawingml/2006/main">
              <a:ext uri="{FF2B5EF4-FFF2-40B4-BE49-F238E27FC236}">
                <a16:creationId xmlns:a16="http://schemas.microsoft.com/office/drawing/2014/main" id="{18967EAE-72DA-42C1-878F-56347BB39D1B}"/>
              </a:ext>
            </a:extLst>
          </p:cNvPr>
          <p:cNvSpPr>
            <a:spLocks xmlns:a="http://schemas.openxmlformats.org/drawingml/2006/main" noGrp="1"/>
          </p:cNvSpPr>
          <p:nvPr/>
        </p:nvSpPr>
        <p:spPr>
          <a:xfrm xmlns:a="http://schemas.openxmlformats.org/drawingml/2006/main">
            <a:off x="7905750" y="2705100"/>
            <a:ext cx="3752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A3D"/>
                </a:solidFill>
                <a:latin typeface="Arial"/>
                <a:ea typeface="Arial"/>
                <a:cs typeface="Arial"/>
              </a:defRPr>
            </a:defPPr>
            <a:lvl1pPr>
              <a:defRPr sz="2175" b="0">
                <a:solidFill>
                  <a:srgbClr val="142A3D"/>
                </a:solidFill>
                <a:latin typeface="Arial"/>
                <a:ea typeface="Arial"/>
                <a:cs typeface="Arial"/>
              </a:defRPr>
            </a:lvl1pPr>
            <a:lvl2pPr>
              <a:defRPr sz="2175" b="0">
                <a:solidFill>
                  <a:srgbClr val="142A3D"/>
                </a:solidFill>
                <a:latin typeface="Arial"/>
                <a:ea typeface="Arial"/>
                <a:cs typeface="Arial"/>
              </a:defRPr>
            </a:lvl2pPr>
            <a:lvl3pPr>
              <a:defRPr sz="2175" b="0">
                <a:solidFill>
                  <a:srgbClr val="142A3D"/>
                </a:solidFill>
                <a:latin typeface="Arial"/>
                <a:ea typeface="Arial"/>
                <a:cs typeface="Arial"/>
              </a:defRPr>
            </a:lvl3pPr>
            <a:lvl4pPr>
              <a:defRPr sz="2175" b="0">
                <a:solidFill>
                  <a:srgbClr val="142A3D"/>
                </a:solidFill>
                <a:latin typeface="Arial"/>
                <a:ea typeface="Arial"/>
                <a:cs typeface="Arial"/>
              </a:defRPr>
            </a:lvl4pPr>
            <a:lvl5pPr>
              <a:defRPr sz="2175" b="0">
                <a:solidFill>
                  <a:srgbClr val="142A3D"/>
                </a:solidFill>
                <a:latin typeface="Arial"/>
                <a:ea typeface="Arial"/>
                <a:cs typeface="Arial"/>
              </a:defRPr>
            </a:lvl5pPr>
            <a:lvl6pPr>
              <a:defRPr sz="2175" b="0">
                <a:solidFill>
                  <a:srgbClr val="142A3D"/>
                </a:solidFill>
                <a:latin typeface="Arial"/>
                <a:ea typeface="Arial"/>
                <a:cs typeface="Arial"/>
              </a:defRPr>
            </a:lvl6pPr>
            <a:lvl7pPr>
              <a:defRPr sz="2175" b="0">
                <a:solidFill>
                  <a:srgbClr val="142A3D"/>
                </a:solidFill>
                <a:latin typeface="Arial"/>
                <a:ea typeface="Arial"/>
                <a:cs typeface="Arial"/>
              </a:defRPr>
            </a:lvl7pPr>
            <a:lvl8pPr>
              <a:defRPr sz="2175" b="0">
                <a:solidFill>
                  <a:srgbClr val="142A3D"/>
                </a:solidFill>
                <a:latin typeface="Arial"/>
                <a:ea typeface="Arial"/>
                <a:cs typeface="Arial"/>
              </a:defRPr>
            </a:lvl8pPr>
            <a:lvl9pPr>
              <a:defRPr sz="2175" b="0">
                <a:solidFill>
                  <a:srgbClr val="142A3D"/>
                </a:solidFill>
                <a:latin typeface="Arial"/>
                <a:ea typeface="Arial"/>
                <a:cs typeface="Arial"/>
              </a:defRPr>
            </a:lvl9pPr>
          </a:lstStyle>
          <a:p xmlns:a="http://schemas.openxmlformats.org/drawingml/2006/main">
            <a:pPr>
              <a:defRPr sz="2175" b="0">
                <a:solidFill>
                  <a:srgbClr val="142A3D"/>
                </a:solidFill>
                <a:latin typeface="Arial"/>
                <a:ea typeface="Arial"/>
                <a:cs typeface="Arial"/>
              </a:defRPr>
            </a:pPr>
            <a:r>
              <a:rPr sz="2175" b="0">
                <a:solidFill>
                  <a:srgbClr val="142A3D"/>
                </a:solidFill>
                <a:latin typeface="Arial"/>
                <a:ea typeface="Arial"/>
                <a:cs typeface="Arial"/>
              </a:rPr>
              <a:t>CAD 167,643</a:t>
            </a:r>
          </a:p>
          <a:p xmlns:a="http://schemas.openxmlformats.org/drawingml/2006/main">
            <a:pPr>
              <a:defRPr sz="2175" b="0">
                <a:solidFill>
                  <a:srgbClr val="142A3D"/>
                </a:solidFill>
                <a:latin typeface="Arial"/>
                <a:ea typeface="Arial"/>
                <a:cs typeface="Arial"/>
              </a:defRPr>
            </a:pPr>
            <a:r>
              <a:rPr sz="2175" b="0">
                <a:solidFill>
                  <a:srgbClr val="142A3D"/>
                </a:solidFill>
                <a:latin typeface="Arial"/>
                <a:ea typeface="Arial"/>
                <a:cs typeface="Arial"/>
              </a:rPr>
              <a:t>combined mean estimate</a:t>
            </a:r>
          </a:p>
        </p:txBody>
      </p:sp>
      <p:sp>
        <p:nvSpPr>
          <p:cNvPr id="8" name="text-32">
            <a:extLst xmlns:a="http://schemas.openxmlformats.org/drawingml/2006/main">
              <a:ext uri="{FF2B5EF4-FFF2-40B4-BE49-F238E27FC236}">
                <a16:creationId xmlns:a16="http://schemas.microsoft.com/office/drawing/2014/main" id="{AF156E24-01C8-4363-83AC-6C7FF3C59550}"/>
              </a:ext>
            </a:extLst>
          </p:cNvPr>
          <p:cNvSpPr>
            <a:spLocks xmlns:a="http://schemas.openxmlformats.org/drawingml/2006/main" noGrp="1"/>
          </p:cNvSpPr>
          <p:nvPr/>
        </p:nvSpPr>
        <p:spPr>
          <a:xfrm xmlns:a="http://schemas.openxmlformats.org/drawingml/2006/main">
            <a:off x="7905750" y="4057650"/>
            <a:ext cx="37528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A3D"/>
                </a:solidFill>
                <a:latin typeface="Arial"/>
                <a:ea typeface="Arial"/>
                <a:cs typeface="Arial"/>
              </a:defRPr>
            </a:defPPr>
            <a:lvl1pPr>
              <a:defRPr sz="2025" b="1">
                <a:solidFill>
                  <a:srgbClr val="142A3D"/>
                </a:solidFill>
                <a:latin typeface="Arial"/>
                <a:ea typeface="Arial"/>
                <a:cs typeface="Arial"/>
              </a:defRPr>
            </a:lvl1pPr>
            <a:lvl2pPr>
              <a:defRPr sz="2025" b="1">
                <a:solidFill>
                  <a:srgbClr val="142A3D"/>
                </a:solidFill>
                <a:latin typeface="Arial"/>
                <a:ea typeface="Arial"/>
                <a:cs typeface="Arial"/>
              </a:defRPr>
            </a:lvl2pPr>
            <a:lvl3pPr>
              <a:defRPr sz="2025" b="1">
                <a:solidFill>
                  <a:srgbClr val="142A3D"/>
                </a:solidFill>
                <a:latin typeface="Arial"/>
                <a:ea typeface="Arial"/>
                <a:cs typeface="Arial"/>
              </a:defRPr>
            </a:lvl3pPr>
            <a:lvl4pPr>
              <a:defRPr sz="2025" b="1">
                <a:solidFill>
                  <a:srgbClr val="142A3D"/>
                </a:solidFill>
                <a:latin typeface="Arial"/>
                <a:ea typeface="Arial"/>
                <a:cs typeface="Arial"/>
              </a:defRPr>
            </a:lvl4pPr>
            <a:lvl5pPr>
              <a:defRPr sz="2025" b="1">
                <a:solidFill>
                  <a:srgbClr val="142A3D"/>
                </a:solidFill>
                <a:latin typeface="Arial"/>
                <a:ea typeface="Arial"/>
                <a:cs typeface="Arial"/>
              </a:defRPr>
            </a:lvl5pPr>
            <a:lvl6pPr>
              <a:defRPr sz="2025" b="1">
                <a:solidFill>
                  <a:srgbClr val="142A3D"/>
                </a:solidFill>
                <a:latin typeface="Arial"/>
                <a:ea typeface="Arial"/>
                <a:cs typeface="Arial"/>
              </a:defRPr>
            </a:lvl6pPr>
            <a:lvl7pPr>
              <a:defRPr sz="2025" b="1">
                <a:solidFill>
                  <a:srgbClr val="142A3D"/>
                </a:solidFill>
                <a:latin typeface="Arial"/>
                <a:ea typeface="Arial"/>
                <a:cs typeface="Arial"/>
              </a:defRPr>
            </a:lvl7pPr>
            <a:lvl8pPr>
              <a:defRPr sz="2025" b="1">
                <a:solidFill>
                  <a:srgbClr val="142A3D"/>
                </a:solidFill>
                <a:latin typeface="Arial"/>
                <a:ea typeface="Arial"/>
                <a:cs typeface="Arial"/>
              </a:defRPr>
            </a:lvl8pPr>
            <a:lvl9pPr>
              <a:defRPr sz="2025" b="1">
                <a:solidFill>
                  <a:srgbClr val="142A3D"/>
                </a:solidFill>
                <a:latin typeface="Arial"/>
                <a:ea typeface="Arial"/>
                <a:cs typeface="Arial"/>
              </a:defRPr>
            </a:lvl9pPr>
          </a:lstStyle>
          <a:p xmlns:a="http://schemas.openxmlformats.org/drawingml/2006/main">
            <a:pPr>
              <a:defRPr sz="2025" b="1">
                <a:solidFill>
                  <a:srgbClr val="142A3D"/>
                </a:solidFill>
                <a:latin typeface="Arial"/>
                <a:ea typeface="Arial"/>
                <a:cs typeface="Arial"/>
              </a:defRPr>
            </a:pPr>
            <a:r>
              <a:rPr sz="2025" b="1">
                <a:solidFill>
                  <a:srgbClr val="142A3D"/>
                </a:solidFill>
                <a:latin typeface="Arial"/>
                <a:ea typeface="Arial"/>
                <a:cs typeface="Arial"/>
              </a:rPr>
              <a:t>Initial exclusions:</a:t>
            </a:r>
          </a:p>
          <a:p xmlns:a="http://schemas.openxmlformats.org/drawingml/2006/main">
            <a:pPr>
              <a:defRPr sz="2025" b="1">
                <a:solidFill>
                  <a:srgbClr val="142A3D"/>
                </a:solidFill>
                <a:latin typeface="Arial"/>
                <a:ea typeface="Arial"/>
                <a:cs typeface="Arial"/>
              </a:defRPr>
            </a:pPr>
            <a:r>
              <a:rPr sz="2025" b="1">
                <a:solidFill>
                  <a:srgbClr val="142A3D"/>
                </a:solidFill>
                <a:latin typeface="Arial"/>
                <a:ea typeface="Arial"/>
                <a:cs typeface="Arial"/>
              </a:rPr>
              <a:t>autonomous action,</a:t>
            </a:r>
          </a:p>
          <a:p xmlns:a="http://schemas.openxmlformats.org/drawingml/2006/main">
            <a:pPr>
              <a:defRPr sz="2025" b="1">
                <a:solidFill>
                  <a:srgbClr val="142A3D"/>
                </a:solidFill>
                <a:latin typeface="Arial"/>
                <a:ea typeface="Arial"/>
                <a:cs typeface="Arial"/>
              </a:defRPr>
            </a:pPr>
            <a:r>
              <a:rPr sz="2025" b="1">
                <a:solidFill>
                  <a:srgbClr val="142A3D"/>
                </a:solidFill>
                <a:latin typeface="Arial"/>
                <a:ea typeface="Arial"/>
                <a:cs typeface="Arial"/>
              </a:rPr>
              <a:t>bodily injury and IP.</a:t>
            </a:r>
          </a:p>
        </p:txBody>
      </p:sp>
      <p:sp>
        <p:nvSpPr>
          <p:cNvPr id="9" name="text-33">
            <a:extLst xmlns:a="http://schemas.openxmlformats.org/drawingml/2006/main">
              <a:ext uri="{FF2B5EF4-FFF2-40B4-BE49-F238E27FC236}">
                <a16:creationId xmlns:a16="http://schemas.microsoft.com/office/drawing/2014/main" id="{A2D8E7E0-2B45-44F3-9B99-F295BFC8F240}"/>
              </a:ext>
            </a:extLst>
          </p:cNvPr>
          <p:cNvSpPr>
            <a:spLocks xmlns:a="http://schemas.openxmlformats.org/drawingml/2006/main" noGrp="1"/>
          </p:cNvSpPr>
          <p:nvPr/>
        </p:nvSpPr>
        <p:spPr>
          <a:xfrm xmlns:a="http://schemas.openxmlformats.org/drawingml/2006/main">
            <a:off x="533400" y="57340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27584"/>
                </a:solidFill>
                <a:latin typeface="Arial"/>
                <a:ea typeface="Arial"/>
                <a:cs typeface="Arial"/>
              </a:defRPr>
            </a:defPPr>
            <a:lvl1pPr>
              <a:defRPr sz="1875" b="0">
                <a:solidFill>
                  <a:srgbClr val="627584"/>
                </a:solidFill>
                <a:latin typeface="Arial"/>
                <a:ea typeface="Arial"/>
                <a:cs typeface="Arial"/>
              </a:defRPr>
            </a:lvl1pPr>
            <a:lvl2pPr>
              <a:defRPr sz="1875" b="0">
                <a:solidFill>
                  <a:srgbClr val="627584"/>
                </a:solidFill>
                <a:latin typeface="Arial"/>
                <a:ea typeface="Arial"/>
                <a:cs typeface="Arial"/>
              </a:defRPr>
            </a:lvl2pPr>
            <a:lvl3pPr>
              <a:defRPr sz="1875" b="0">
                <a:solidFill>
                  <a:srgbClr val="627584"/>
                </a:solidFill>
                <a:latin typeface="Arial"/>
                <a:ea typeface="Arial"/>
                <a:cs typeface="Arial"/>
              </a:defRPr>
            </a:lvl3pPr>
            <a:lvl4pPr>
              <a:defRPr sz="1875" b="0">
                <a:solidFill>
                  <a:srgbClr val="627584"/>
                </a:solidFill>
                <a:latin typeface="Arial"/>
                <a:ea typeface="Arial"/>
                <a:cs typeface="Arial"/>
              </a:defRPr>
            </a:lvl4pPr>
            <a:lvl5pPr>
              <a:defRPr sz="1875" b="0">
                <a:solidFill>
                  <a:srgbClr val="627584"/>
                </a:solidFill>
                <a:latin typeface="Arial"/>
                <a:ea typeface="Arial"/>
                <a:cs typeface="Arial"/>
              </a:defRPr>
            </a:lvl5pPr>
            <a:lvl6pPr>
              <a:defRPr sz="1875" b="0">
                <a:solidFill>
                  <a:srgbClr val="627584"/>
                </a:solidFill>
                <a:latin typeface="Arial"/>
                <a:ea typeface="Arial"/>
                <a:cs typeface="Arial"/>
              </a:defRPr>
            </a:lvl6pPr>
            <a:lvl7pPr>
              <a:defRPr sz="1875" b="0">
                <a:solidFill>
                  <a:srgbClr val="627584"/>
                </a:solidFill>
                <a:latin typeface="Arial"/>
                <a:ea typeface="Arial"/>
                <a:cs typeface="Arial"/>
              </a:defRPr>
            </a:lvl7pPr>
            <a:lvl8pPr>
              <a:defRPr sz="1875" b="0">
                <a:solidFill>
                  <a:srgbClr val="627584"/>
                </a:solidFill>
                <a:latin typeface="Arial"/>
                <a:ea typeface="Arial"/>
                <a:cs typeface="Arial"/>
              </a:defRPr>
            </a:lvl8pPr>
            <a:lvl9pPr>
              <a:defRPr sz="1875" b="0">
                <a:solidFill>
                  <a:srgbClr val="627584"/>
                </a:solidFill>
                <a:latin typeface="Arial"/>
                <a:ea typeface="Arial"/>
                <a:cs typeface="Arial"/>
              </a:defRPr>
            </a:lvl9pPr>
          </a:lstStyle>
          <a:p xmlns:a="http://schemas.openxmlformats.org/drawingml/2006/main">
            <a:pPr>
              <a:defRPr sz="1875" b="0">
                <a:solidFill>
                  <a:srgbClr val="627584"/>
                </a:solidFill>
                <a:latin typeface="Arial"/>
                <a:ea typeface="Arial"/>
                <a:cs typeface="Arial"/>
              </a:defRPr>
            </a:pPr>
            <a:r>
              <a:rPr sz="1875" b="0">
                <a:solidFill>
                  <a:srgbClr val="627584"/>
                </a:solidFill>
                <a:latin typeface="Arial"/>
                <a:ea typeface="Arial"/>
                <a:cs typeface="Arial"/>
              </a:rPr>
              <a:t>CAD thousands. Candidates still require insured-role, harm and policy-fit review.</a:t>
            </a:r>
          </a:p>
        </p:txBody>
      </p:sp>
    </p:spTree>
    <p:extLst>
      <p:ext uri="{BB962C8B-B14F-4D97-AF65-F5344CB8AC3E}">
        <p14:creationId xmlns:p14="http://schemas.microsoft.com/office/powerpoint/2010/main" val="2096551129"/>
      </p:ext>
    </p:extLst>
  </p:cSld>
</p:sld>
</file>

<file path=ppt/slides/slide6.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34">
            <a:extLst xmlns:a="http://schemas.openxmlformats.org/drawingml/2006/main">
              <a:ext uri="{FF2B5EF4-FFF2-40B4-BE49-F238E27FC236}">
                <a16:creationId xmlns:a16="http://schemas.microsoft.com/office/drawing/2014/main" id="{B04F22DA-49EF-49E9-947B-2C671818024D}"/>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Customers need a clear additional coverage promise</a:t>
            </a:r>
          </a:p>
        </p:txBody>
      </p:sp>
      <p:sp>
        <p:nvSpPr>
          <p:cNvPr id="3" name="text-35">
            <a:extLst xmlns:a="http://schemas.openxmlformats.org/drawingml/2006/main">
              <a:ext uri="{FF2B5EF4-FFF2-40B4-BE49-F238E27FC236}">
                <a16:creationId xmlns:a16="http://schemas.microsoft.com/office/drawing/2014/main" id="{CE5427DC-EA72-457D-9BAE-C20851C6913E}"/>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Source: case policy definitions. Proposed terms require review of the actual underlying wording.</a:t>
            </a:r>
          </a:p>
        </p:txBody>
      </p:sp>
      <p:sp>
        <p:nvSpPr>
          <p:cNvPr id="4" name="text-36">
            <a:extLst xmlns:a="http://schemas.openxmlformats.org/drawingml/2006/main">
              <a:ext uri="{FF2B5EF4-FFF2-40B4-BE49-F238E27FC236}">
                <a16:creationId xmlns:a16="http://schemas.microsoft.com/office/drawing/2014/main" id="{274DC08F-9EC1-46B0-BF03-2719A393D2ED}"/>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9E2C4CD0-7384-4464-825A-C805653687A7}"/>
              </a:ext>
            </a:extLst>
          </p:cNvPr>
          <p:cNvGraphicFramePr/>
          <p:nvPr/>
        </p:nvGraphicFramePr>
        <p:xfrm>
          <a:off xmlns:a="http://schemas.openxmlformats.org/drawingml/2006/main" x="533400" y="1762125"/>
          <a:ext xmlns:a="http://schemas.openxmlformats.org/drawingml/2006/main" cx="11125200" cy="3429000"/>
        </p:xfrm>
        <a:graphic xmlns:a="http://schemas.openxmlformats.org/drawingml/2006/main">
          <a:graphicData uri="http://schemas.openxmlformats.org/drawingml/2006/table">
            <a:tbl>
              <a:tblPr/>
              <a:tblGrid>
                <a:gridCol w="2952750"/>
                <a:gridCol w="8172450"/>
              </a:tblGrid>
              <a:tr h="685800">
                <a:tc>
                  <a:txBody>
                    <a:bodyPr lIns="133350" tIns="114300" rIns="133350" bIns="95250"/>
                    <a:lstStyle/>
                    <a:p>
                      <a:r>
                        <a:rPr sz="1875" b="1">
                          <a:solidFill>
                            <a:srgbClr val="FFFFFF"/>
                          </a:solidFill>
                          <a:latin typeface="Arial"/>
                          <a:ea typeface="Arial"/>
                          <a:cs typeface="Arial"/>
                        </a:rPr>
                        <a:t>Design question</a:t>
                      </a:r>
                    </a:p>
                  </a:txBody>
                  <a:tcPr marL="91440" marR="91440" marT="45720" marB="45720" anchor="ctr">
                    <a:lnL w="9525">
                      <a:solidFill>
                        <a:srgbClr val="F5F3EF"/>
                      </a:solidFill>
                      <a:prstDash val="solid"/>
                    </a:lnL>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c>
                  <a:txBody>
                    <a:bodyPr lIns="133350" tIns="114300" rIns="133350" bIns="95250"/>
                    <a:lstStyle/>
                    <a:p>
                      <a:r>
                        <a:rPr sz="1875" b="1">
                          <a:solidFill>
                            <a:srgbClr val="FFFFFF"/>
                          </a:solidFill>
                          <a:latin typeface="Arial"/>
                          <a:ea typeface="Arial"/>
                          <a:cs typeface="Arial"/>
                        </a:rPr>
                        <a:t>Endorsement decision</a:t>
                      </a:r>
                    </a:p>
                  </a:txBody>
                  <a:tcPr marL="91440" marR="91440" marT="45720" marB="45720" anchor="ctr">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r>
              <a:tr h="685800">
                <a:tc>
                  <a:txBody>
                    <a:bodyPr lIns="133350" tIns="114300" rIns="133350" bIns="95250"/>
                    <a:lstStyle/>
                    <a:p>
                      <a:r>
                        <a:rPr sz="1875" b="0">
                          <a:solidFill>
                            <a:srgbClr val="142A3D"/>
                          </a:solidFill>
                          <a:latin typeface="Arial"/>
                          <a:ea typeface="Arial"/>
                          <a:cs typeface="Arial"/>
                        </a:rPr>
                        <a:t>What changes?</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Affirm specified uses or buy back a defined exclusion</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685800">
                <a:tc>
                  <a:txBody>
                    <a:bodyPr lIns="133350" tIns="114300" rIns="133350" bIns="95250"/>
                    <a:lstStyle/>
                    <a:p>
                      <a:r>
                        <a:rPr sz="1875" b="0">
                          <a:solidFill>
                            <a:srgbClr val="142A3D"/>
                          </a:solidFill>
                          <a:latin typeface="Arial"/>
                          <a:ea typeface="Arial"/>
                          <a:cs typeface="Arial"/>
                        </a:rPr>
                        <a:t>How much responds?</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AI sublimit and its relationship to the parent limit</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r h="685800">
                <a:tc>
                  <a:txBody>
                    <a:bodyPr lIns="133350" tIns="114300" rIns="133350" bIns="95250"/>
                    <a:lstStyle/>
                    <a:p>
                      <a:r>
                        <a:rPr sz="1875" b="0">
                          <a:solidFill>
                            <a:srgbClr val="142A3D"/>
                          </a:solidFill>
                          <a:latin typeface="Arial"/>
                          <a:ea typeface="Arial"/>
                          <a:cs typeface="Arial"/>
                        </a:rPr>
                        <a:t>Who handles the claim?</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Defence costs, counsel and settlement authority</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685800">
                <a:tc>
                  <a:txBody>
                    <a:bodyPr lIns="133350" tIns="114300" rIns="133350" bIns="95250"/>
                    <a:lstStyle/>
                    <a:p>
                      <a:r>
                        <a:rPr sz="1875" b="0">
                          <a:solidFill>
                            <a:srgbClr val="142A3D"/>
                          </a:solidFill>
                          <a:latin typeface="Arial"/>
                          <a:ea typeface="Arial"/>
                          <a:cs typeface="Arial"/>
                        </a:rPr>
                        <a:t>What if the use changes?</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Reporting rules and contractual consequences</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bl>
          </a:graphicData>
        </a:graphic>
      </p:graphicFrame>
      <p:sp>
        <p:nvSpPr>
          <p:cNvPr id="6" name="text-37">
            <a:extLst xmlns:a="http://schemas.openxmlformats.org/drawingml/2006/main">
              <a:ext uri="{FF2B5EF4-FFF2-40B4-BE49-F238E27FC236}">
                <a16:creationId xmlns:a16="http://schemas.microsoft.com/office/drawing/2014/main" id="{10888423-B148-452F-9F38-E4A12B79965D}"/>
              </a:ext>
            </a:extLst>
          </p:cNvPr>
          <p:cNvSpPr>
            <a:spLocks xmlns:a="http://schemas.openxmlformats.org/drawingml/2006/main" noGrp="1"/>
          </p:cNvSpPr>
          <p:nvPr/>
        </p:nvSpPr>
        <p:spPr>
          <a:xfrm xmlns:a="http://schemas.openxmlformats.org/drawingml/2006/main">
            <a:off x="533400" y="5705475"/>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Confirm the gap in the existing policy before charging for it.</a:t>
            </a:r>
          </a:p>
        </p:txBody>
      </p:sp>
    </p:spTree>
    <p:extLst>
      <p:ext uri="{BB962C8B-B14F-4D97-AF65-F5344CB8AC3E}">
        <p14:creationId xmlns:p14="http://schemas.microsoft.com/office/powerpoint/2010/main" val="1791445696"/>
      </p:ext>
    </p:extLst>
  </p:cSld>
</p:sld>
</file>

<file path=ppt/slides/slide7.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38">
            <a:extLst xmlns:a="http://schemas.openxmlformats.org/drawingml/2006/main">
              <a:ext uri="{FF2B5EF4-FFF2-40B4-BE49-F238E27FC236}">
                <a16:creationId xmlns:a16="http://schemas.microsoft.com/office/drawing/2014/main" id="{299270F4-22A5-40C4-BC3E-306411F37963}"/>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B offers a practical route when its economics work</a:t>
            </a:r>
          </a:p>
        </p:txBody>
      </p:sp>
      <p:sp>
        <p:nvSpPr>
          <p:cNvPr id="3" name="text-39">
            <a:extLst xmlns:a="http://schemas.openxmlformats.org/drawingml/2006/main">
              <a:ext uri="{FF2B5EF4-FFF2-40B4-BE49-F238E27FC236}">
                <a16:creationId xmlns:a16="http://schemas.microsoft.com/office/drawing/2014/main" id="{680FBA43-3749-49FF-9F6D-07DB02DC6626}"/>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Source: case Options A–C. Comparison assumes similarly narrow coverage scope.</a:t>
            </a:r>
          </a:p>
        </p:txBody>
      </p:sp>
      <p:sp>
        <p:nvSpPr>
          <p:cNvPr id="4" name="text-40">
            <a:extLst xmlns:a="http://schemas.openxmlformats.org/drawingml/2006/main">
              <a:ext uri="{FF2B5EF4-FFF2-40B4-BE49-F238E27FC236}">
                <a16:creationId xmlns:a16="http://schemas.microsoft.com/office/drawing/2014/main" id="{A05F0BCA-49EC-415A-9BE7-EA93BCE01493}"/>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9FCD4B64-6360-40E4-9B55-BE9043B5BF60}"/>
              </a:ext>
            </a:extLst>
          </p:cNvPr>
          <p:cNvGraphicFramePr/>
          <p:nvPr/>
        </p:nvGraphicFramePr>
        <p:xfrm>
          <a:off xmlns:a="http://schemas.openxmlformats.org/drawingml/2006/main" x="533400" y="1762125"/>
          <a:ext xmlns:a="http://schemas.openxmlformats.org/drawingml/2006/main" cx="11125200" cy="3333750"/>
        </p:xfrm>
        <a:graphic xmlns:a="http://schemas.openxmlformats.org/drawingml/2006/main">
          <a:graphicData uri="http://schemas.openxmlformats.org/drawingml/2006/table">
            <a:tbl>
              <a:tblPr/>
              <a:tblGrid>
                <a:gridCol w="2476500"/>
                <a:gridCol w="3905250"/>
                <a:gridCol w="4743450"/>
              </a:tblGrid>
              <a:tr h="833438">
                <a:tc>
                  <a:txBody>
                    <a:bodyPr lIns="133350" tIns="114300" rIns="133350" bIns="95250"/>
                    <a:lstStyle/>
                    <a:p>
                      <a:r>
                        <a:rPr sz="1875" b="1">
                          <a:solidFill>
                            <a:srgbClr val="FFFFFF"/>
                          </a:solidFill>
                          <a:latin typeface="Arial"/>
                          <a:ea typeface="Arial"/>
                          <a:cs typeface="Arial"/>
                        </a:rPr>
                        <a:t>Option</a:t>
                      </a:r>
                    </a:p>
                  </a:txBody>
                  <a:tcPr marL="91440" marR="91440" marT="45720" marB="45720" anchor="ctr">
                    <a:lnL w="9525">
                      <a:solidFill>
                        <a:srgbClr val="F5F3EF"/>
                      </a:solidFill>
                      <a:prstDash val="solid"/>
                    </a:lnL>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c>
                  <a:txBody>
                    <a:bodyPr lIns="133350" tIns="114300" rIns="133350" bIns="95250"/>
                    <a:lstStyle/>
                    <a:p>
                      <a:r>
                        <a:rPr sz="1875" b="1">
                          <a:solidFill>
                            <a:srgbClr val="FFFFFF"/>
                          </a:solidFill>
                          <a:latin typeface="Arial"/>
                          <a:ea typeface="Arial"/>
                          <a:cs typeface="Arial"/>
                        </a:rPr>
                        <a:t>Advantage</a:t>
                      </a:r>
                    </a:p>
                  </a:txBody>
                  <a:tcPr marL="91440" marR="91440" marT="45720" marB="45720" anchor="ctr">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c>
                  <a:txBody>
                    <a:bodyPr lIns="133350" tIns="114300" rIns="133350" bIns="95250"/>
                    <a:lstStyle/>
                    <a:p>
                      <a:r>
                        <a:rPr sz="1875" b="1">
                          <a:solidFill>
                            <a:srgbClr val="FFFFFF"/>
                          </a:solidFill>
                          <a:latin typeface="Arial"/>
                          <a:ea typeface="Arial"/>
                          <a:cs typeface="Arial"/>
                        </a:rPr>
                        <a:t>Choose when</a:t>
                      </a:r>
                    </a:p>
                  </a:txBody>
                  <a:tcPr marL="91440" marR="91440" marT="45720" marB="45720" anchor="ctr">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r>
              <a:tr h="833438">
                <a:tc>
                  <a:txBody>
                    <a:bodyPr lIns="133350" tIns="114300" rIns="133350" bIns="95250"/>
                    <a:lstStyle/>
                    <a:p>
                      <a:r>
                        <a:rPr sz="1875" b="0">
                          <a:solidFill>
                            <a:srgbClr val="142A3D"/>
                          </a:solidFill>
                          <a:latin typeface="Arial"/>
                          <a:ea typeface="Arial"/>
                          <a:cs typeface="Arial"/>
                        </a:rPr>
                        <a:t>A  Standalone</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Distinct coverage and pricing</a:t>
                      </a:r>
                    </a:p>
                  </a:txBody>
                  <a:tcPr marL="91440" marR="91440" marT="45720" marB="45720" anchor="ctr">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Demand supports separate product costs</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833438">
                <a:tc>
                  <a:txBody>
                    <a:bodyPr lIns="133350" tIns="114300" rIns="133350" bIns="95250"/>
                    <a:lstStyle/>
                    <a:p>
                      <a:r>
                        <a:rPr sz="1875" b="0">
                          <a:solidFill>
                            <a:srgbClr val="142A3D"/>
                          </a:solidFill>
                          <a:latin typeface="Arial"/>
                          <a:ea typeface="Arial"/>
                          <a:cs typeface="Arial"/>
                        </a:rPr>
                        <a:t>B  Endorsement</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Existing customers and infrastructure</a:t>
                      </a:r>
                    </a:p>
                  </a:txBody>
                  <a:tcPr marL="91440" marR="91440" marT="45720" marB="45720" anchor="ctr">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Added value, technical price and capacity align</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r h="833438">
                <a:tc>
                  <a:txBody>
                    <a:bodyPr lIns="133350" tIns="114300" rIns="133350" bIns="95250"/>
                    <a:lstStyle/>
                    <a:p>
                      <a:r>
                        <a:rPr sz="1875" b="0">
                          <a:solidFill>
                            <a:srgbClr val="142A3D"/>
                          </a:solidFill>
                          <a:latin typeface="Arial"/>
                          <a:ea typeface="Arial"/>
                          <a:cs typeface="Arial"/>
                        </a:rPr>
                        <a:t>C  Build capability</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Learn before assuming new risk</a:t>
                      </a:r>
                    </a:p>
                  </a:txBody>
                  <a:tcPr marL="91440" marR="91440" marT="45720" marB="45720" anchor="ctr">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Demand, pricing or operational gates fail</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bl>
          </a:graphicData>
        </a:graphic>
      </p:graphicFrame>
      <p:sp>
        <p:nvSpPr>
          <p:cNvPr id="6" name="text-41">
            <a:extLst xmlns:a="http://schemas.openxmlformats.org/drawingml/2006/main">
              <a:ext uri="{FF2B5EF4-FFF2-40B4-BE49-F238E27FC236}">
                <a16:creationId xmlns:a16="http://schemas.microsoft.com/office/drawing/2014/main" id="{761C0BBF-75BA-43C7-A293-82D4FB260805}"/>
              </a:ext>
            </a:extLst>
          </p:cNvPr>
          <p:cNvSpPr>
            <a:spLocks xmlns:a="http://schemas.openxmlformats.org/drawingml/2006/main" noGrp="1"/>
          </p:cNvSpPr>
          <p:nvPr/>
        </p:nvSpPr>
        <p:spPr>
          <a:xfrm xmlns:a="http://schemas.openxmlformats.org/drawingml/2006/main">
            <a:off x="533400" y="56007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The advantage comes from execution and scope, not the label alone.</a:t>
            </a:r>
          </a:p>
        </p:txBody>
      </p:sp>
    </p:spTree>
    <p:extLst>
      <p:ext uri="{BB962C8B-B14F-4D97-AF65-F5344CB8AC3E}">
        <p14:creationId xmlns:p14="http://schemas.microsoft.com/office/powerpoint/2010/main" val="1299902901"/>
      </p:ext>
    </p:extLst>
  </p:cSld>
</p:sld>
</file>

<file path=ppt/slides/slide8.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42">
            <a:extLst xmlns:a="http://schemas.openxmlformats.org/drawingml/2006/main">
              <a:ext uri="{FF2B5EF4-FFF2-40B4-BE49-F238E27FC236}">
                <a16:creationId xmlns:a16="http://schemas.microsoft.com/office/drawing/2014/main" id="{E06EA113-58D7-4522-A0B1-AC4122436EF2}"/>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Illustrative pilot economics have a clear break-even</a:t>
            </a:r>
          </a:p>
        </p:txBody>
      </p:sp>
      <p:sp>
        <p:nvSpPr>
          <p:cNvPr id="3" name="text-43">
            <a:extLst xmlns:a="http://schemas.openxmlformats.org/drawingml/2006/main">
              <a:ext uri="{FF2B5EF4-FFF2-40B4-BE49-F238E27FC236}">
                <a16:creationId xmlns:a16="http://schemas.microsoft.com/office/drawing/2014/main" id="{BCC5EC99-222A-4F5B-BBC5-5884936A180B}"/>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Assumptions only. 100 full policy-years; CAD 5k premium each; 25% variable expenses; CAD 100k fixed cost.</a:t>
            </a:r>
          </a:p>
        </p:txBody>
      </p:sp>
      <p:sp>
        <p:nvSpPr>
          <p:cNvPr id="4" name="text-44">
            <a:extLst xmlns:a="http://schemas.openxmlformats.org/drawingml/2006/main">
              <a:ext uri="{FF2B5EF4-FFF2-40B4-BE49-F238E27FC236}">
                <a16:creationId xmlns:a16="http://schemas.microsoft.com/office/drawing/2014/main" id="{FBA8177B-CD33-4AEB-8DC2-8365823B6D1D}"/>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59A20E1B-836E-4458-A17E-6C5170BCD9C8}"/>
              </a:ext>
            </a:extLst>
          </p:cNvPr>
          <p:cNvGraphicFramePr/>
          <p:nvPr/>
        </p:nvGraphicFramePr>
        <p:xfrm>
          <a:off xmlns:a="http://schemas.openxmlformats.org/drawingml/2006/main" x="419100" y="1695450"/>
          <a:ext xmlns:a="http://schemas.openxmlformats.org/drawingml/2006/main" cx="7858125" cy="3714750"/>
        </p:xfrm>
        <a:graphic xmlns:a="http://schemas.openxmlformats.org/drawingml/2006/main">
          <a:graphicData uri="http://schemas.openxmlformats.org/drawingml/2006/chart">
            <c:chart xmlns:r="http://schemas.openxmlformats.org/officeDocument/2006/relationships" xmlns:c="http://schemas.openxmlformats.org/drawingml/2006/chart" r:id="Ra1dd3020b7534ff3"/>
          </a:graphicData>
        </a:graphic>
      </p:graphicFrame>
      <p:sp>
        <p:nvSpPr>
          <p:cNvPr id="6" name="text-45">
            <a:extLst xmlns:a="http://schemas.openxmlformats.org/drawingml/2006/main">
              <a:ext uri="{FF2B5EF4-FFF2-40B4-BE49-F238E27FC236}">
                <a16:creationId xmlns:a16="http://schemas.microsoft.com/office/drawing/2014/main" id="{670956A6-954B-4E71-9587-4FEB74697A55}"/>
              </a:ext>
            </a:extLst>
          </p:cNvPr>
          <p:cNvSpPr>
            <a:spLocks xmlns:a="http://schemas.openxmlformats.org/drawingml/2006/main" noGrp="1"/>
          </p:cNvSpPr>
          <p:nvPr/>
        </p:nvSpPr>
        <p:spPr>
          <a:xfrm xmlns:a="http://schemas.openxmlformats.org/drawingml/2006/main">
            <a:off x="8782050" y="2095500"/>
            <a:ext cx="2876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087F8C"/>
                </a:solidFill>
                <a:latin typeface="Arial"/>
                <a:ea typeface="Arial"/>
                <a:cs typeface="Arial"/>
              </a:defRPr>
            </a:defPPr>
            <a:lvl1pPr>
              <a:defRPr sz="5250" b="1">
                <a:solidFill>
                  <a:srgbClr val="087F8C"/>
                </a:solidFill>
                <a:latin typeface="Arial"/>
                <a:ea typeface="Arial"/>
                <a:cs typeface="Arial"/>
              </a:defRPr>
            </a:lvl1pPr>
            <a:lvl2pPr>
              <a:defRPr sz="5250" b="1">
                <a:solidFill>
                  <a:srgbClr val="087F8C"/>
                </a:solidFill>
                <a:latin typeface="Arial"/>
                <a:ea typeface="Arial"/>
                <a:cs typeface="Arial"/>
              </a:defRPr>
            </a:lvl2pPr>
            <a:lvl3pPr>
              <a:defRPr sz="5250" b="1">
                <a:solidFill>
                  <a:srgbClr val="087F8C"/>
                </a:solidFill>
                <a:latin typeface="Arial"/>
                <a:ea typeface="Arial"/>
                <a:cs typeface="Arial"/>
              </a:defRPr>
            </a:lvl3pPr>
            <a:lvl4pPr>
              <a:defRPr sz="5250" b="1">
                <a:solidFill>
                  <a:srgbClr val="087F8C"/>
                </a:solidFill>
                <a:latin typeface="Arial"/>
                <a:ea typeface="Arial"/>
                <a:cs typeface="Arial"/>
              </a:defRPr>
            </a:lvl4pPr>
            <a:lvl5pPr>
              <a:defRPr sz="5250" b="1">
                <a:solidFill>
                  <a:srgbClr val="087F8C"/>
                </a:solidFill>
                <a:latin typeface="Arial"/>
                <a:ea typeface="Arial"/>
                <a:cs typeface="Arial"/>
              </a:defRPr>
            </a:lvl5pPr>
            <a:lvl6pPr>
              <a:defRPr sz="5250" b="1">
                <a:solidFill>
                  <a:srgbClr val="087F8C"/>
                </a:solidFill>
                <a:latin typeface="Arial"/>
                <a:ea typeface="Arial"/>
                <a:cs typeface="Arial"/>
              </a:defRPr>
            </a:lvl6pPr>
            <a:lvl7pPr>
              <a:defRPr sz="5250" b="1">
                <a:solidFill>
                  <a:srgbClr val="087F8C"/>
                </a:solidFill>
                <a:latin typeface="Arial"/>
                <a:ea typeface="Arial"/>
                <a:cs typeface="Arial"/>
              </a:defRPr>
            </a:lvl7pPr>
            <a:lvl8pPr>
              <a:defRPr sz="5250" b="1">
                <a:solidFill>
                  <a:srgbClr val="087F8C"/>
                </a:solidFill>
                <a:latin typeface="Arial"/>
                <a:ea typeface="Arial"/>
                <a:cs typeface="Arial"/>
              </a:defRPr>
            </a:lvl8pPr>
            <a:lvl9pPr>
              <a:defRPr sz="5250" b="1">
                <a:solidFill>
                  <a:srgbClr val="087F8C"/>
                </a:solidFill>
                <a:latin typeface="Arial"/>
                <a:ea typeface="Arial"/>
                <a:cs typeface="Arial"/>
              </a:defRPr>
            </a:lvl9pPr>
          </a:lstStyle>
          <a:p xmlns:a="http://schemas.openxmlformats.org/drawingml/2006/main">
            <a:pPr>
              <a:defRPr sz="5250" b="1">
                <a:solidFill>
                  <a:srgbClr val="087F8C"/>
                </a:solidFill>
                <a:latin typeface="Arial"/>
                <a:ea typeface="Arial"/>
                <a:cs typeface="Arial"/>
              </a:defRPr>
            </a:pPr>
            <a:r>
              <a:rPr sz="5250" b="1">
                <a:solidFill>
                  <a:srgbClr val="087F8C"/>
                </a:solidFill>
                <a:latin typeface="Arial"/>
                <a:ea typeface="Arial"/>
                <a:cs typeface="Arial"/>
              </a:rPr>
              <a:t>2.75%</a:t>
            </a:r>
          </a:p>
        </p:txBody>
      </p:sp>
      <p:sp>
        <p:nvSpPr>
          <p:cNvPr id="7" name="text-46">
            <a:extLst xmlns:a="http://schemas.openxmlformats.org/drawingml/2006/main">
              <a:ext uri="{FF2B5EF4-FFF2-40B4-BE49-F238E27FC236}">
                <a16:creationId xmlns:a16="http://schemas.microsoft.com/office/drawing/2014/main" id="{270D73B2-104F-48AB-8864-E74263CD99E0}"/>
              </a:ext>
            </a:extLst>
          </p:cNvPr>
          <p:cNvSpPr>
            <a:spLocks xmlns:a="http://schemas.openxmlformats.org/drawingml/2006/main" noGrp="1"/>
          </p:cNvSpPr>
          <p:nvPr/>
        </p:nvSpPr>
        <p:spPr>
          <a:xfrm xmlns:a="http://schemas.openxmlformats.org/drawingml/2006/main">
            <a:off x="8782050" y="3162300"/>
            <a:ext cx="2876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A3D"/>
                </a:solidFill>
                <a:latin typeface="Arial"/>
                <a:ea typeface="Arial"/>
                <a:cs typeface="Arial"/>
              </a:defRPr>
            </a:defPPr>
            <a:lvl1pPr>
              <a:defRPr sz="2100" b="0">
                <a:solidFill>
                  <a:srgbClr val="142A3D"/>
                </a:solidFill>
                <a:latin typeface="Arial"/>
                <a:ea typeface="Arial"/>
                <a:cs typeface="Arial"/>
              </a:defRPr>
            </a:lvl1pPr>
            <a:lvl2pPr>
              <a:defRPr sz="2100" b="0">
                <a:solidFill>
                  <a:srgbClr val="142A3D"/>
                </a:solidFill>
                <a:latin typeface="Arial"/>
                <a:ea typeface="Arial"/>
                <a:cs typeface="Arial"/>
              </a:defRPr>
            </a:lvl2pPr>
            <a:lvl3pPr>
              <a:defRPr sz="2100" b="0">
                <a:solidFill>
                  <a:srgbClr val="142A3D"/>
                </a:solidFill>
                <a:latin typeface="Arial"/>
                <a:ea typeface="Arial"/>
                <a:cs typeface="Arial"/>
              </a:defRPr>
            </a:lvl3pPr>
            <a:lvl4pPr>
              <a:defRPr sz="2100" b="0">
                <a:solidFill>
                  <a:srgbClr val="142A3D"/>
                </a:solidFill>
                <a:latin typeface="Arial"/>
                <a:ea typeface="Arial"/>
                <a:cs typeface="Arial"/>
              </a:defRPr>
            </a:lvl4pPr>
            <a:lvl5pPr>
              <a:defRPr sz="2100" b="0">
                <a:solidFill>
                  <a:srgbClr val="142A3D"/>
                </a:solidFill>
                <a:latin typeface="Arial"/>
                <a:ea typeface="Arial"/>
                <a:cs typeface="Arial"/>
              </a:defRPr>
            </a:lvl5pPr>
            <a:lvl6pPr>
              <a:defRPr sz="2100" b="0">
                <a:solidFill>
                  <a:srgbClr val="142A3D"/>
                </a:solidFill>
                <a:latin typeface="Arial"/>
                <a:ea typeface="Arial"/>
                <a:cs typeface="Arial"/>
              </a:defRPr>
            </a:lvl6pPr>
            <a:lvl7pPr>
              <a:defRPr sz="2100" b="0">
                <a:solidFill>
                  <a:srgbClr val="142A3D"/>
                </a:solidFill>
                <a:latin typeface="Arial"/>
                <a:ea typeface="Arial"/>
                <a:cs typeface="Arial"/>
              </a:defRPr>
            </a:lvl7pPr>
            <a:lvl8pPr>
              <a:defRPr sz="2100" b="0">
                <a:solidFill>
                  <a:srgbClr val="142A3D"/>
                </a:solidFill>
                <a:latin typeface="Arial"/>
                <a:ea typeface="Arial"/>
                <a:cs typeface="Arial"/>
              </a:defRPr>
            </a:lvl8pPr>
            <a:lvl9pPr>
              <a:defRPr sz="2100" b="0">
                <a:solidFill>
                  <a:srgbClr val="142A3D"/>
                </a:solidFill>
                <a:latin typeface="Arial"/>
                <a:ea typeface="Arial"/>
                <a:cs typeface="Arial"/>
              </a:defRPr>
            </a:lvl9pPr>
          </a:lstStyle>
          <a:p xmlns:a="http://schemas.openxmlformats.org/drawingml/2006/main">
            <a:pPr>
              <a:defRPr sz="2100" b="0">
                <a:solidFill>
                  <a:srgbClr val="142A3D"/>
                </a:solidFill>
                <a:latin typeface="Arial"/>
                <a:ea typeface="Arial"/>
                <a:cs typeface="Arial"/>
              </a:defRPr>
            </a:pPr>
            <a:r>
              <a:rPr sz="2100" b="0">
                <a:solidFill>
                  <a:srgbClr val="142A3D"/>
                </a:solidFill>
                <a:latin typeface="Arial"/>
                <a:ea typeface="Arial"/>
                <a:cs typeface="Arial"/>
              </a:rPr>
              <a:t>break-even annual</a:t>
            </a:r>
          </a:p>
          <a:p xmlns:a="http://schemas.openxmlformats.org/drawingml/2006/main">
            <a:pPr>
              <a:defRPr sz="2100" b="0">
                <a:solidFill>
                  <a:srgbClr val="142A3D"/>
                </a:solidFill>
                <a:latin typeface="Arial"/>
                <a:ea typeface="Arial"/>
                <a:cs typeface="Arial"/>
              </a:defRPr>
            </a:pPr>
            <a:r>
              <a:rPr sz="2100" b="0">
                <a:solidFill>
                  <a:srgbClr val="142A3D"/>
                </a:solidFill>
                <a:latin typeface="Arial"/>
                <a:ea typeface="Arial"/>
                <a:cs typeface="Arial"/>
              </a:rPr>
              <a:t>claims per policy</a:t>
            </a:r>
          </a:p>
        </p:txBody>
      </p:sp>
      <p:sp>
        <p:nvSpPr>
          <p:cNvPr id="8" name="text-47">
            <a:extLst xmlns:a="http://schemas.openxmlformats.org/drawingml/2006/main">
              <a:ext uri="{FF2B5EF4-FFF2-40B4-BE49-F238E27FC236}">
                <a16:creationId xmlns:a16="http://schemas.microsoft.com/office/drawing/2014/main" id="{36BE7548-55A5-4F97-AC3B-3033AAA222B1}"/>
              </a:ext>
            </a:extLst>
          </p:cNvPr>
          <p:cNvSpPr>
            <a:spLocks xmlns:a="http://schemas.openxmlformats.org/drawingml/2006/main" noGrp="1"/>
          </p:cNvSpPr>
          <p:nvPr/>
        </p:nvSpPr>
        <p:spPr>
          <a:xfrm xmlns:a="http://schemas.openxmlformats.org/drawingml/2006/main">
            <a:off x="8782050" y="4429125"/>
            <a:ext cx="28765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27584"/>
                </a:solidFill>
                <a:latin typeface="Arial"/>
                <a:ea typeface="Arial"/>
                <a:cs typeface="Arial"/>
              </a:defRPr>
            </a:defPPr>
            <a:lvl1pPr>
              <a:defRPr sz="1875" b="0">
                <a:solidFill>
                  <a:srgbClr val="627584"/>
                </a:solidFill>
                <a:latin typeface="Arial"/>
                <a:ea typeface="Arial"/>
                <a:cs typeface="Arial"/>
              </a:defRPr>
            </a:lvl1pPr>
            <a:lvl2pPr>
              <a:defRPr sz="1875" b="0">
                <a:solidFill>
                  <a:srgbClr val="627584"/>
                </a:solidFill>
                <a:latin typeface="Arial"/>
                <a:ea typeface="Arial"/>
                <a:cs typeface="Arial"/>
              </a:defRPr>
            </a:lvl2pPr>
            <a:lvl3pPr>
              <a:defRPr sz="1875" b="0">
                <a:solidFill>
                  <a:srgbClr val="627584"/>
                </a:solidFill>
                <a:latin typeface="Arial"/>
                <a:ea typeface="Arial"/>
                <a:cs typeface="Arial"/>
              </a:defRPr>
            </a:lvl3pPr>
            <a:lvl4pPr>
              <a:defRPr sz="1875" b="0">
                <a:solidFill>
                  <a:srgbClr val="627584"/>
                </a:solidFill>
                <a:latin typeface="Arial"/>
                <a:ea typeface="Arial"/>
                <a:cs typeface="Arial"/>
              </a:defRPr>
            </a:lvl4pPr>
            <a:lvl5pPr>
              <a:defRPr sz="1875" b="0">
                <a:solidFill>
                  <a:srgbClr val="627584"/>
                </a:solidFill>
                <a:latin typeface="Arial"/>
                <a:ea typeface="Arial"/>
                <a:cs typeface="Arial"/>
              </a:defRPr>
            </a:lvl5pPr>
            <a:lvl6pPr>
              <a:defRPr sz="1875" b="0">
                <a:solidFill>
                  <a:srgbClr val="627584"/>
                </a:solidFill>
                <a:latin typeface="Arial"/>
                <a:ea typeface="Arial"/>
                <a:cs typeface="Arial"/>
              </a:defRPr>
            </a:lvl6pPr>
            <a:lvl7pPr>
              <a:defRPr sz="1875" b="0">
                <a:solidFill>
                  <a:srgbClr val="627584"/>
                </a:solidFill>
                <a:latin typeface="Arial"/>
                <a:ea typeface="Arial"/>
                <a:cs typeface="Arial"/>
              </a:defRPr>
            </a:lvl7pPr>
            <a:lvl8pPr>
              <a:defRPr sz="1875" b="0">
                <a:solidFill>
                  <a:srgbClr val="627584"/>
                </a:solidFill>
                <a:latin typeface="Arial"/>
                <a:ea typeface="Arial"/>
                <a:cs typeface="Arial"/>
              </a:defRPr>
            </a:lvl8pPr>
            <a:lvl9pPr>
              <a:defRPr sz="1875" b="0">
                <a:solidFill>
                  <a:srgbClr val="627584"/>
                </a:solidFill>
                <a:latin typeface="Arial"/>
                <a:ea typeface="Arial"/>
                <a:cs typeface="Arial"/>
              </a:defRPr>
            </a:lvl9pPr>
          </a:lstStyle>
          <a:p xmlns:a="http://schemas.openxmlformats.org/drawingml/2006/main">
            <a:pPr>
              <a:defRPr sz="1875" b="0">
                <a:solidFill>
                  <a:srgbClr val="627584"/>
                </a:solidFill>
                <a:latin typeface="Arial"/>
                <a:ea typeface="Arial"/>
                <a:cs typeface="Arial"/>
              </a:defRPr>
            </a:pPr>
            <a:r>
              <a:rPr sz="1875" b="0">
                <a:solidFill>
                  <a:srgbClr val="627584"/>
                </a:solidFill>
                <a:latin typeface="Arial"/>
                <a:ea typeface="Arial"/>
                <a:cs typeface="Arial"/>
              </a:rPr>
              <a:t>Mean covered cost:</a:t>
            </a:r>
          </a:p>
          <a:p xmlns:a="http://schemas.openxmlformats.org/drawingml/2006/main">
            <a:pPr>
              <a:defRPr sz="1875" b="0">
                <a:solidFill>
                  <a:srgbClr val="627584"/>
                </a:solidFill>
                <a:latin typeface="Arial"/>
                <a:ea typeface="Arial"/>
                <a:cs typeface="Arial"/>
              </a:defRPr>
            </a:pPr>
            <a:r>
              <a:rPr sz="1875" b="0">
                <a:solidFill>
                  <a:srgbClr val="627584"/>
                </a:solidFill>
                <a:latin typeface="Arial"/>
                <a:ea typeface="Arial"/>
                <a:cs typeface="Arial"/>
              </a:rPr>
              <a:t>CAD 100,000</a:t>
            </a:r>
          </a:p>
          <a:p xmlns:a="http://schemas.openxmlformats.org/drawingml/2006/main">
            <a:pPr>
              <a:defRPr sz="1875" b="0">
                <a:solidFill>
                  <a:srgbClr val="627584"/>
                </a:solidFill>
                <a:latin typeface="Arial"/>
                <a:ea typeface="Arial"/>
                <a:cs typeface="Arial"/>
              </a:defRPr>
            </a:pPr>
            <a:r>
              <a:rPr sz="1875" b="0">
                <a:solidFill>
                  <a:srgbClr val="627584"/>
                </a:solidFill>
                <a:latin typeface="Arial"/>
                <a:ea typeface="Arial"/>
                <a:cs typeface="Arial"/>
              </a:rPr>
              <a:t>including defence</a:t>
            </a:r>
          </a:p>
        </p:txBody>
      </p:sp>
      <p:sp>
        <p:nvSpPr>
          <p:cNvPr id="9" name="text-48">
            <a:extLst xmlns:a="http://schemas.openxmlformats.org/drawingml/2006/main">
              <a:ext uri="{FF2B5EF4-FFF2-40B4-BE49-F238E27FC236}">
                <a16:creationId xmlns:a16="http://schemas.microsoft.com/office/drawing/2014/main" id="{D1F4F12A-7FB2-4E7C-BF1E-445735E330D6}"/>
              </a:ext>
            </a:extLst>
          </p:cNvPr>
          <p:cNvSpPr>
            <a:spLocks xmlns:a="http://schemas.openxmlformats.org/drawingml/2006/main" noGrp="1"/>
          </p:cNvSpPr>
          <p:nvPr/>
        </p:nvSpPr>
        <p:spPr>
          <a:xfrm xmlns:a="http://schemas.openxmlformats.org/drawingml/2006/main">
            <a:off x="533400" y="572452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A3D"/>
                </a:solidFill>
                <a:latin typeface="Arial"/>
                <a:ea typeface="Arial"/>
                <a:cs typeface="Arial"/>
              </a:defRPr>
            </a:defPPr>
            <a:lvl1pPr>
              <a:defRPr sz="2100" b="1">
                <a:solidFill>
                  <a:srgbClr val="142A3D"/>
                </a:solidFill>
                <a:latin typeface="Arial"/>
                <a:ea typeface="Arial"/>
                <a:cs typeface="Arial"/>
              </a:defRPr>
            </a:lvl1pPr>
            <a:lvl2pPr>
              <a:defRPr sz="2100" b="1">
                <a:solidFill>
                  <a:srgbClr val="142A3D"/>
                </a:solidFill>
                <a:latin typeface="Arial"/>
                <a:ea typeface="Arial"/>
                <a:cs typeface="Arial"/>
              </a:defRPr>
            </a:lvl2pPr>
            <a:lvl3pPr>
              <a:defRPr sz="2100" b="1">
                <a:solidFill>
                  <a:srgbClr val="142A3D"/>
                </a:solidFill>
                <a:latin typeface="Arial"/>
                <a:ea typeface="Arial"/>
                <a:cs typeface="Arial"/>
              </a:defRPr>
            </a:lvl3pPr>
            <a:lvl4pPr>
              <a:defRPr sz="2100" b="1">
                <a:solidFill>
                  <a:srgbClr val="142A3D"/>
                </a:solidFill>
                <a:latin typeface="Arial"/>
                <a:ea typeface="Arial"/>
                <a:cs typeface="Arial"/>
              </a:defRPr>
            </a:lvl4pPr>
            <a:lvl5pPr>
              <a:defRPr sz="2100" b="1">
                <a:solidFill>
                  <a:srgbClr val="142A3D"/>
                </a:solidFill>
                <a:latin typeface="Arial"/>
                <a:ea typeface="Arial"/>
                <a:cs typeface="Arial"/>
              </a:defRPr>
            </a:lvl5pPr>
            <a:lvl6pPr>
              <a:defRPr sz="2100" b="1">
                <a:solidFill>
                  <a:srgbClr val="142A3D"/>
                </a:solidFill>
                <a:latin typeface="Arial"/>
                <a:ea typeface="Arial"/>
                <a:cs typeface="Arial"/>
              </a:defRPr>
            </a:lvl6pPr>
            <a:lvl7pPr>
              <a:defRPr sz="2100" b="1">
                <a:solidFill>
                  <a:srgbClr val="142A3D"/>
                </a:solidFill>
                <a:latin typeface="Arial"/>
                <a:ea typeface="Arial"/>
                <a:cs typeface="Arial"/>
              </a:defRPr>
            </a:lvl7pPr>
            <a:lvl8pPr>
              <a:defRPr sz="2100" b="1">
                <a:solidFill>
                  <a:srgbClr val="142A3D"/>
                </a:solidFill>
                <a:latin typeface="Arial"/>
                <a:ea typeface="Arial"/>
                <a:cs typeface="Arial"/>
              </a:defRPr>
            </a:lvl8pPr>
            <a:lvl9pPr>
              <a:defRPr sz="2100" b="1">
                <a:solidFill>
                  <a:srgbClr val="142A3D"/>
                </a:solidFill>
                <a:latin typeface="Arial"/>
                <a:ea typeface="Arial"/>
                <a:cs typeface="Arial"/>
              </a:defRPr>
            </a:lvl9pPr>
          </a:lstStyle>
          <a:p xmlns:a="http://schemas.openxmlformats.org/drawingml/2006/main">
            <a:pPr>
              <a:defRPr sz="2100" b="1">
                <a:solidFill>
                  <a:srgbClr val="142A3D"/>
                </a:solidFill>
                <a:latin typeface="Arial"/>
                <a:ea typeface="Arial"/>
                <a:cs typeface="Arial"/>
              </a:defRPr>
            </a:pPr>
            <a:r>
              <a:rPr sz="2100" b="1">
                <a:solidFill>
                  <a:srgbClr val="142A3D"/>
                </a:solidFill>
                <a:latin typeface="Arial"/>
                <a:ea typeface="Arial"/>
                <a:cs typeface="Arial"/>
              </a:rPr>
              <a:t>A lower customer price or higher covered cost can reverse the decision.</a:t>
            </a:r>
          </a:p>
        </p:txBody>
      </p:sp>
    </p:spTree>
    <p:extLst>
      <p:ext uri="{BB962C8B-B14F-4D97-AF65-F5344CB8AC3E}">
        <p14:creationId xmlns:p14="http://schemas.microsoft.com/office/powerpoint/2010/main" val="1330965201"/>
      </p:ext>
    </p:extLst>
  </p:cSld>
</p:sld>
</file>

<file path=ppt/slides/slide9.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49">
            <a:extLst xmlns:a="http://schemas.openxmlformats.org/drawingml/2006/main">
              <a:ext uri="{FF2B5EF4-FFF2-40B4-BE49-F238E27FC236}">
                <a16:creationId xmlns:a16="http://schemas.microsoft.com/office/drawing/2014/main" id="{165B4E65-4C5E-4426-8B2E-A5B9ECFAC395}"/>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Shared vendors can create correlated claims</a:t>
            </a:r>
          </a:p>
        </p:txBody>
      </p:sp>
      <p:sp>
        <p:nvSpPr>
          <p:cNvPr id="3" name="text-50">
            <a:extLst xmlns:a="http://schemas.openxmlformats.org/drawingml/2006/main">
              <a:ext uri="{FF2B5EF4-FFF2-40B4-BE49-F238E27FC236}">
                <a16:creationId xmlns:a16="http://schemas.microsoft.com/office/drawing/2014/main" id="{3F3F44DF-01CE-470E-9296-4ECAAC9EFC2C}"/>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Illustrative gross scenario. CAD 250k average covered cost per affected policy; no event probability implied.</a:t>
            </a:r>
          </a:p>
        </p:txBody>
      </p:sp>
      <p:sp>
        <p:nvSpPr>
          <p:cNvPr id="4" name="text-51">
            <a:extLst xmlns:a="http://schemas.openxmlformats.org/drawingml/2006/main">
              <a:ext uri="{FF2B5EF4-FFF2-40B4-BE49-F238E27FC236}">
                <a16:creationId xmlns:a16="http://schemas.microsoft.com/office/drawing/2014/main" id="{8581F6D3-95BE-4C44-90B1-FD1B0C132197}"/>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09</a:t>
            </a:r>
          </a:p>
        </p:txBody>
      </p:sp>
      <p:graphicFrame>
        <p:nvGraphicFramePr>
          <p:cNvPr id="5" name="Chart">
            <a:extLst xmlns:a="http://schemas.openxmlformats.org/drawingml/2006/main">
              <a:ext uri="{FF2B5EF4-FFF2-40B4-BE49-F238E27FC236}">
                <a16:creationId xmlns:a16="http://schemas.microsoft.com/office/drawing/2014/main" id="{1B067B6C-1D07-4B25-9D8C-6D668C738423}"/>
              </a:ext>
            </a:extLst>
          </p:cNvPr>
          <p:cNvGraphicFramePr/>
          <p:nvPr/>
        </p:nvGraphicFramePr>
        <p:xfrm>
          <a:off xmlns:a="http://schemas.openxmlformats.org/drawingml/2006/main" x="419100" y="1695450"/>
          <a:ext xmlns:a="http://schemas.openxmlformats.org/drawingml/2006/main" cx="7620000" cy="3714750"/>
        </p:xfrm>
        <a:graphic xmlns:a="http://schemas.openxmlformats.org/drawingml/2006/main">
          <a:graphicData uri="http://schemas.openxmlformats.org/drawingml/2006/chart">
            <c:chart xmlns:r="http://schemas.openxmlformats.org/officeDocument/2006/relationships" xmlns:c="http://schemas.openxmlformats.org/drawingml/2006/chart" r:id="R2b527a42564042d9"/>
          </a:graphicData>
        </a:graphic>
      </p:graphicFrame>
      <p:sp>
        <p:nvSpPr>
          <p:cNvPr id="6" name="text-52">
            <a:extLst xmlns:a="http://schemas.openxmlformats.org/drawingml/2006/main">
              <a:ext uri="{FF2B5EF4-FFF2-40B4-BE49-F238E27FC236}">
                <a16:creationId xmlns:a16="http://schemas.microsoft.com/office/drawing/2014/main" id="{1A85B530-A4B4-4591-B4A2-CEAAF957DAC9}"/>
              </a:ext>
            </a:extLst>
          </p:cNvPr>
          <p:cNvSpPr>
            <a:spLocks xmlns:a="http://schemas.openxmlformats.org/drawingml/2006/main" noGrp="1"/>
          </p:cNvSpPr>
          <p:nvPr/>
        </p:nvSpPr>
        <p:spPr>
          <a:xfrm xmlns:a="http://schemas.openxmlformats.org/drawingml/2006/main">
            <a:off x="8572500" y="2114550"/>
            <a:ext cx="3086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C75653"/>
                </a:solidFill>
                <a:latin typeface="Arial"/>
                <a:ea typeface="Arial"/>
                <a:cs typeface="Arial"/>
              </a:defRPr>
            </a:defPPr>
            <a:lvl1pPr>
              <a:defRPr sz="4800" b="1">
                <a:solidFill>
                  <a:srgbClr val="C75653"/>
                </a:solidFill>
                <a:latin typeface="Arial"/>
                <a:ea typeface="Arial"/>
                <a:cs typeface="Arial"/>
              </a:defRPr>
            </a:lvl1pPr>
            <a:lvl2pPr>
              <a:defRPr sz="4800" b="1">
                <a:solidFill>
                  <a:srgbClr val="C75653"/>
                </a:solidFill>
                <a:latin typeface="Arial"/>
                <a:ea typeface="Arial"/>
                <a:cs typeface="Arial"/>
              </a:defRPr>
            </a:lvl2pPr>
            <a:lvl3pPr>
              <a:defRPr sz="4800" b="1">
                <a:solidFill>
                  <a:srgbClr val="C75653"/>
                </a:solidFill>
                <a:latin typeface="Arial"/>
                <a:ea typeface="Arial"/>
                <a:cs typeface="Arial"/>
              </a:defRPr>
            </a:lvl3pPr>
            <a:lvl4pPr>
              <a:defRPr sz="4800" b="1">
                <a:solidFill>
                  <a:srgbClr val="C75653"/>
                </a:solidFill>
                <a:latin typeface="Arial"/>
                <a:ea typeface="Arial"/>
                <a:cs typeface="Arial"/>
              </a:defRPr>
            </a:lvl4pPr>
            <a:lvl5pPr>
              <a:defRPr sz="4800" b="1">
                <a:solidFill>
                  <a:srgbClr val="C75653"/>
                </a:solidFill>
                <a:latin typeface="Arial"/>
                <a:ea typeface="Arial"/>
                <a:cs typeface="Arial"/>
              </a:defRPr>
            </a:lvl5pPr>
            <a:lvl6pPr>
              <a:defRPr sz="4800" b="1">
                <a:solidFill>
                  <a:srgbClr val="C75653"/>
                </a:solidFill>
                <a:latin typeface="Arial"/>
                <a:ea typeface="Arial"/>
                <a:cs typeface="Arial"/>
              </a:defRPr>
            </a:lvl6pPr>
            <a:lvl7pPr>
              <a:defRPr sz="4800" b="1">
                <a:solidFill>
                  <a:srgbClr val="C75653"/>
                </a:solidFill>
                <a:latin typeface="Arial"/>
                <a:ea typeface="Arial"/>
                <a:cs typeface="Arial"/>
              </a:defRPr>
            </a:lvl7pPr>
            <a:lvl8pPr>
              <a:defRPr sz="4800" b="1">
                <a:solidFill>
                  <a:srgbClr val="C75653"/>
                </a:solidFill>
                <a:latin typeface="Arial"/>
                <a:ea typeface="Arial"/>
                <a:cs typeface="Arial"/>
              </a:defRPr>
            </a:lvl8pPr>
            <a:lvl9pPr>
              <a:defRPr sz="4800" b="1">
                <a:solidFill>
                  <a:srgbClr val="C75653"/>
                </a:solidFill>
                <a:latin typeface="Arial"/>
                <a:ea typeface="Arial"/>
                <a:cs typeface="Arial"/>
              </a:defRPr>
            </a:lvl9pPr>
          </a:lstStyle>
          <a:p xmlns:a="http://schemas.openxmlformats.org/drawingml/2006/main">
            <a:pPr>
              <a:defRPr sz="4800" b="1">
                <a:solidFill>
                  <a:srgbClr val="C75653"/>
                </a:solidFill>
                <a:latin typeface="Arial"/>
                <a:ea typeface="Arial"/>
                <a:cs typeface="Arial"/>
              </a:defRPr>
            </a:pPr>
            <a:r>
              <a:rPr sz="4800" b="1">
                <a:solidFill>
                  <a:srgbClr val="C75653"/>
                </a:solidFill>
                <a:latin typeface="Arial"/>
                <a:ea typeface="Arial"/>
                <a:cs typeface="Arial"/>
              </a:rPr>
              <a:t>CAD 5M</a:t>
            </a:r>
          </a:p>
        </p:txBody>
      </p:sp>
      <p:sp>
        <p:nvSpPr>
          <p:cNvPr id="7" name="text-53">
            <a:extLst xmlns:a="http://schemas.openxmlformats.org/drawingml/2006/main">
              <a:ext uri="{FF2B5EF4-FFF2-40B4-BE49-F238E27FC236}">
                <a16:creationId xmlns:a16="http://schemas.microsoft.com/office/drawing/2014/main" id="{07C07E37-172A-4201-998C-77B90DD30692}"/>
              </a:ext>
            </a:extLst>
          </p:cNvPr>
          <p:cNvSpPr>
            <a:spLocks xmlns:a="http://schemas.openxmlformats.org/drawingml/2006/main" noGrp="1"/>
          </p:cNvSpPr>
          <p:nvPr/>
        </p:nvSpPr>
        <p:spPr>
          <a:xfrm xmlns:a="http://schemas.openxmlformats.org/drawingml/2006/main">
            <a:off x="8572500" y="3257550"/>
            <a:ext cx="3086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A3D"/>
                </a:solidFill>
                <a:latin typeface="Arial"/>
                <a:ea typeface="Arial"/>
                <a:cs typeface="Arial"/>
              </a:defRPr>
            </a:defPPr>
            <a:lvl1pPr>
              <a:defRPr sz="2100" b="0">
                <a:solidFill>
                  <a:srgbClr val="142A3D"/>
                </a:solidFill>
                <a:latin typeface="Arial"/>
                <a:ea typeface="Arial"/>
                <a:cs typeface="Arial"/>
              </a:defRPr>
            </a:lvl1pPr>
            <a:lvl2pPr>
              <a:defRPr sz="2100" b="0">
                <a:solidFill>
                  <a:srgbClr val="142A3D"/>
                </a:solidFill>
                <a:latin typeface="Arial"/>
                <a:ea typeface="Arial"/>
                <a:cs typeface="Arial"/>
              </a:defRPr>
            </a:lvl2pPr>
            <a:lvl3pPr>
              <a:defRPr sz="2100" b="0">
                <a:solidFill>
                  <a:srgbClr val="142A3D"/>
                </a:solidFill>
                <a:latin typeface="Arial"/>
                <a:ea typeface="Arial"/>
                <a:cs typeface="Arial"/>
              </a:defRPr>
            </a:lvl3pPr>
            <a:lvl4pPr>
              <a:defRPr sz="2100" b="0">
                <a:solidFill>
                  <a:srgbClr val="142A3D"/>
                </a:solidFill>
                <a:latin typeface="Arial"/>
                <a:ea typeface="Arial"/>
                <a:cs typeface="Arial"/>
              </a:defRPr>
            </a:lvl4pPr>
            <a:lvl5pPr>
              <a:defRPr sz="2100" b="0">
                <a:solidFill>
                  <a:srgbClr val="142A3D"/>
                </a:solidFill>
                <a:latin typeface="Arial"/>
                <a:ea typeface="Arial"/>
                <a:cs typeface="Arial"/>
              </a:defRPr>
            </a:lvl5pPr>
            <a:lvl6pPr>
              <a:defRPr sz="2100" b="0">
                <a:solidFill>
                  <a:srgbClr val="142A3D"/>
                </a:solidFill>
                <a:latin typeface="Arial"/>
                <a:ea typeface="Arial"/>
                <a:cs typeface="Arial"/>
              </a:defRPr>
            </a:lvl6pPr>
            <a:lvl7pPr>
              <a:defRPr sz="2100" b="0">
                <a:solidFill>
                  <a:srgbClr val="142A3D"/>
                </a:solidFill>
                <a:latin typeface="Arial"/>
                <a:ea typeface="Arial"/>
                <a:cs typeface="Arial"/>
              </a:defRPr>
            </a:lvl7pPr>
            <a:lvl8pPr>
              <a:defRPr sz="2100" b="0">
                <a:solidFill>
                  <a:srgbClr val="142A3D"/>
                </a:solidFill>
                <a:latin typeface="Arial"/>
                <a:ea typeface="Arial"/>
                <a:cs typeface="Arial"/>
              </a:defRPr>
            </a:lvl8pPr>
            <a:lvl9pPr>
              <a:defRPr sz="2100" b="0">
                <a:solidFill>
                  <a:srgbClr val="142A3D"/>
                </a:solidFill>
                <a:latin typeface="Arial"/>
                <a:ea typeface="Arial"/>
                <a:cs typeface="Arial"/>
              </a:defRPr>
            </a:lvl9pPr>
          </a:lstStyle>
          <a:p xmlns:a="http://schemas.openxmlformats.org/drawingml/2006/main">
            <a:pPr>
              <a:defRPr sz="2100" b="0">
                <a:solidFill>
                  <a:srgbClr val="142A3D"/>
                </a:solidFill>
                <a:latin typeface="Arial"/>
                <a:ea typeface="Arial"/>
                <a:cs typeface="Arial"/>
              </a:defRPr>
            </a:pPr>
            <a:r>
              <a:rPr sz="2100" b="0">
                <a:solidFill>
                  <a:srgbClr val="142A3D"/>
                </a:solidFill>
                <a:latin typeface="Arial"/>
                <a:ea typeface="Arial"/>
                <a:cs typeface="Arial"/>
              </a:rPr>
              <a:t>20 affected policies</a:t>
            </a:r>
          </a:p>
          <a:p xmlns:a="http://schemas.openxmlformats.org/drawingml/2006/main">
            <a:pPr>
              <a:defRPr sz="2100" b="0">
                <a:solidFill>
                  <a:srgbClr val="142A3D"/>
                </a:solidFill>
                <a:latin typeface="Arial"/>
                <a:ea typeface="Arial"/>
                <a:cs typeface="Arial"/>
              </a:defRPr>
            </a:pPr>
            <a:r>
              <a:rPr sz="2100" b="0">
                <a:solidFill>
                  <a:srgbClr val="142A3D"/>
                </a:solidFill>
                <a:latin typeface="Arial"/>
                <a:ea typeface="Arial"/>
                <a:cs typeface="Arial"/>
              </a:rPr>
              <a:t>can exceed a small</a:t>
            </a:r>
          </a:p>
          <a:p xmlns:a="http://schemas.openxmlformats.org/drawingml/2006/main">
            <a:pPr>
              <a:defRPr sz="2100" b="0">
                <a:solidFill>
                  <a:srgbClr val="142A3D"/>
                </a:solidFill>
                <a:latin typeface="Arial"/>
                <a:ea typeface="Arial"/>
                <a:cs typeface="Arial"/>
              </a:defRPr>
            </a:pPr>
            <a:r>
              <a:rPr sz="2100" b="0">
                <a:solidFill>
                  <a:srgbClr val="142A3D"/>
                </a:solidFill>
                <a:latin typeface="Arial"/>
                <a:ea typeface="Arial"/>
                <a:cs typeface="Arial"/>
              </a:rPr>
              <a:t>pilot’s premium base.</a:t>
            </a:r>
          </a:p>
        </p:txBody>
      </p:sp>
      <p:sp>
        <p:nvSpPr>
          <p:cNvPr id="8" name="text-54">
            <a:extLst xmlns:a="http://schemas.openxmlformats.org/drawingml/2006/main">
              <a:ext uri="{FF2B5EF4-FFF2-40B4-BE49-F238E27FC236}">
                <a16:creationId xmlns:a16="http://schemas.microsoft.com/office/drawing/2014/main" id="{9DE60F40-1013-421C-95A4-03C434042804}"/>
              </a:ext>
            </a:extLst>
          </p:cNvPr>
          <p:cNvSpPr>
            <a:spLocks xmlns:a="http://schemas.openxmlformats.org/drawingml/2006/main" noGrp="1"/>
          </p:cNvSpPr>
          <p:nvPr/>
        </p:nvSpPr>
        <p:spPr>
          <a:xfrm xmlns:a="http://schemas.openxmlformats.org/drawingml/2006/main">
            <a:off x="533400" y="572452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A3D"/>
                </a:solidFill>
                <a:latin typeface="Arial"/>
                <a:ea typeface="Arial"/>
                <a:cs typeface="Arial"/>
              </a:defRPr>
            </a:defPPr>
            <a:lvl1pPr>
              <a:defRPr sz="2100" b="1">
                <a:solidFill>
                  <a:srgbClr val="142A3D"/>
                </a:solidFill>
                <a:latin typeface="Arial"/>
                <a:ea typeface="Arial"/>
                <a:cs typeface="Arial"/>
              </a:defRPr>
            </a:lvl1pPr>
            <a:lvl2pPr>
              <a:defRPr sz="2100" b="1">
                <a:solidFill>
                  <a:srgbClr val="142A3D"/>
                </a:solidFill>
                <a:latin typeface="Arial"/>
                <a:ea typeface="Arial"/>
                <a:cs typeface="Arial"/>
              </a:defRPr>
            </a:lvl2pPr>
            <a:lvl3pPr>
              <a:defRPr sz="2100" b="1">
                <a:solidFill>
                  <a:srgbClr val="142A3D"/>
                </a:solidFill>
                <a:latin typeface="Arial"/>
                <a:ea typeface="Arial"/>
                <a:cs typeface="Arial"/>
              </a:defRPr>
            </a:lvl3pPr>
            <a:lvl4pPr>
              <a:defRPr sz="2100" b="1">
                <a:solidFill>
                  <a:srgbClr val="142A3D"/>
                </a:solidFill>
                <a:latin typeface="Arial"/>
                <a:ea typeface="Arial"/>
                <a:cs typeface="Arial"/>
              </a:defRPr>
            </a:lvl4pPr>
            <a:lvl5pPr>
              <a:defRPr sz="2100" b="1">
                <a:solidFill>
                  <a:srgbClr val="142A3D"/>
                </a:solidFill>
                <a:latin typeface="Arial"/>
                <a:ea typeface="Arial"/>
                <a:cs typeface="Arial"/>
              </a:defRPr>
            </a:lvl5pPr>
            <a:lvl6pPr>
              <a:defRPr sz="2100" b="1">
                <a:solidFill>
                  <a:srgbClr val="142A3D"/>
                </a:solidFill>
                <a:latin typeface="Arial"/>
                <a:ea typeface="Arial"/>
                <a:cs typeface="Arial"/>
              </a:defRPr>
            </a:lvl6pPr>
            <a:lvl7pPr>
              <a:defRPr sz="2100" b="1">
                <a:solidFill>
                  <a:srgbClr val="142A3D"/>
                </a:solidFill>
                <a:latin typeface="Arial"/>
                <a:ea typeface="Arial"/>
                <a:cs typeface="Arial"/>
              </a:defRPr>
            </a:lvl7pPr>
            <a:lvl8pPr>
              <a:defRPr sz="2100" b="1">
                <a:solidFill>
                  <a:srgbClr val="142A3D"/>
                </a:solidFill>
                <a:latin typeface="Arial"/>
                <a:ea typeface="Arial"/>
                <a:cs typeface="Arial"/>
              </a:defRPr>
            </a:lvl8pPr>
            <a:lvl9pPr>
              <a:defRPr sz="2100" b="1">
                <a:solidFill>
                  <a:srgbClr val="142A3D"/>
                </a:solidFill>
                <a:latin typeface="Arial"/>
                <a:ea typeface="Arial"/>
                <a:cs typeface="Arial"/>
              </a:defRPr>
            </a:lvl9pPr>
          </a:lstStyle>
          <a:p xmlns:a="http://schemas.openxmlformats.org/drawingml/2006/main">
            <a:pPr>
              <a:defRPr sz="2100" b="1">
                <a:solidFill>
                  <a:srgbClr val="142A3D"/>
                </a:solidFill>
                <a:latin typeface="Arial"/>
                <a:ea typeface="Arial"/>
                <a:cs typeface="Arial"/>
              </a:defRPr>
            </a:pPr>
            <a:r>
              <a:rPr sz="2100" b="1">
                <a:solidFill>
                  <a:srgbClr val="142A3D"/>
                </a:solidFill>
                <a:latin typeface="Arial"/>
                <a:ea typeface="Arial"/>
                <a:cs typeface="Arial"/>
              </a:rPr>
              <a:t>Gross stress in CAD millions. Compare with approved risk capacity.</a:t>
            </a:r>
          </a:p>
        </p:txBody>
      </p:sp>
    </p:spTree>
    <p:extLst>
      <p:ext uri="{BB962C8B-B14F-4D97-AF65-F5344CB8AC3E}">
        <p14:creationId xmlns:p14="http://schemas.microsoft.com/office/powerpoint/2010/main" val="252295450"/>
      </p:ext>
    </p:extLst>
  </p:cSld>
</p:sld>
</file>

<file path=ppt/slides/slide10.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55">
            <a:extLst xmlns:a="http://schemas.openxmlformats.org/drawingml/2006/main">
              <a:ext uri="{FF2B5EF4-FFF2-40B4-BE49-F238E27FC236}">
                <a16:creationId xmlns:a16="http://schemas.microsoft.com/office/drawing/2014/main" id="{541135B6-412C-48DC-8E67-50A0E2967B9F}"/>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Expansion requires evidence beyond the first renewal</a:t>
            </a:r>
          </a:p>
        </p:txBody>
      </p:sp>
      <p:sp>
        <p:nvSpPr>
          <p:cNvPr id="3" name="text-56">
            <a:extLst xmlns:a="http://schemas.openxmlformats.org/drawingml/2006/main">
              <a:ext uri="{FF2B5EF4-FFF2-40B4-BE49-F238E27FC236}">
                <a16:creationId xmlns:a16="http://schemas.microsoft.com/office/drawing/2014/main" id="{6805C974-EEF2-4BA4-A176-32E61AC6EA54}"/>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Team Analysts proposed milestones. First annual renewal is earliest Month 15 if binding begins in Month 3.</a:t>
            </a:r>
          </a:p>
        </p:txBody>
      </p:sp>
      <p:sp>
        <p:nvSpPr>
          <p:cNvPr id="4" name="text-57">
            <a:extLst xmlns:a="http://schemas.openxmlformats.org/drawingml/2006/main">
              <a:ext uri="{FF2B5EF4-FFF2-40B4-BE49-F238E27FC236}">
                <a16:creationId xmlns:a16="http://schemas.microsoft.com/office/drawing/2014/main" id="{1D2167CB-DBAC-4A01-8D65-524CAE4D1B17}"/>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B1CA7A5E-CEC8-4453-B822-ECC09FD1A225}"/>
              </a:ext>
            </a:extLst>
          </p:cNvPr>
          <p:cNvGraphicFramePr/>
          <p:nvPr/>
        </p:nvGraphicFramePr>
        <p:xfrm>
          <a:off xmlns:a="http://schemas.openxmlformats.org/drawingml/2006/main" x="533400" y="1762125"/>
          <a:ext xmlns:a="http://schemas.openxmlformats.org/drawingml/2006/main" cx="11125200" cy="3429000"/>
        </p:xfrm>
        <a:graphic xmlns:a="http://schemas.openxmlformats.org/drawingml/2006/main">
          <a:graphicData uri="http://schemas.openxmlformats.org/drawingml/2006/table">
            <a:tbl>
              <a:tblPr/>
              <a:tblGrid>
                <a:gridCol w="2952750"/>
                <a:gridCol w="8172450"/>
              </a:tblGrid>
              <a:tr h="685800">
                <a:tc>
                  <a:txBody>
                    <a:bodyPr lIns="133350" tIns="114300" rIns="133350" bIns="95250"/>
                    <a:lstStyle/>
                    <a:p>
                      <a:r>
                        <a:rPr sz="1875" b="1">
                          <a:solidFill>
                            <a:srgbClr val="FFFFFF"/>
                          </a:solidFill>
                          <a:latin typeface="Arial"/>
                          <a:ea typeface="Arial"/>
                          <a:cs typeface="Arial"/>
                        </a:rPr>
                        <a:t>Stage</a:t>
                      </a:r>
                    </a:p>
                  </a:txBody>
                  <a:tcPr marL="91440" marR="91440" marT="45720" marB="45720" anchor="ctr">
                    <a:lnL w="9525">
                      <a:solidFill>
                        <a:srgbClr val="F5F3EF"/>
                      </a:solidFill>
                      <a:prstDash val="solid"/>
                    </a:lnL>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c>
                  <a:txBody>
                    <a:bodyPr lIns="133350" tIns="114300" rIns="133350" bIns="95250"/>
                    <a:lstStyle/>
                    <a:p>
                      <a:r>
                        <a:rPr sz="1875" b="1">
                          <a:solidFill>
                            <a:srgbClr val="FFFFFF"/>
                          </a:solidFill>
                          <a:latin typeface="Arial"/>
                          <a:ea typeface="Arial"/>
                          <a:cs typeface="Arial"/>
                        </a:rPr>
                        <a:t>Evidence and action</a:t>
                      </a:r>
                    </a:p>
                  </a:txBody>
                  <a:tcPr marL="91440" marR="91440" marT="45720" marB="45720" anchor="ctr">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r>
              <a:tr h="685800">
                <a:tc>
                  <a:txBody>
                    <a:bodyPr lIns="133350" tIns="114300" rIns="133350" bIns="95250"/>
                    <a:lstStyle/>
                    <a:p>
                      <a:r>
                        <a:rPr sz="1875" b="0">
                          <a:solidFill>
                            <a:srgbClr val="142A3D"/>
                          </a:solidFill>
                          <a:latin typeface="Arial"/>
                          <a:ea typeface="Arial"/>
                          <a:cs typeface="Arial"/>
                        </a:rPr>
                        <a:t>Months 0–3</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Validate demand, wording, technical price and risk budget</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685800">
                <a:tc>
                  <a:txBody>
                    <a:bodyPr lIns="133350" tIns="114300" rIns="133350" bIns="95250"/>
                    <a:lstStyle/>
                    <a:p>
                      <a:r>
                        <a:rPr sz="1875" b="0">
                          <a:solidFill>
                            <a:srgbClr val="142A3D"/>
                          </a:solidFill>
                          <a:latin typeface="Arial"/>
                          <a:ea typeface="Arial"/>
                          <a:cs typeface="Arial"/>
                        </a:rPr>
                        <a:t>Months 3–6</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Bind only approved uses with complete control evidence</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r h="685800">
                <a:tc>
                  <a:txBody>
                    <a:bodyPr lIns="133350" tIns="114300" rIns="133350" bIns="95250"/>
                    <a:lstStyle/>
                    <a:p>
                      <a:r>
                        <a:rPr sz="1875" b="0">
                          <a:solidFill>
                            <a:srgbClr val="142A3D"/>
                          </a:solidFill>
                          <a:latin typeface="Arial"/>
                          <a:ea typeface="Arial"/>
                          <a:cs typeface="Arial"/>
                        </a:rPr>
                        <a:t>Monthly / quarterly</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Review controls, claims, defence costs and dependencies</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685800">
                <a:tc>
                  <a:txBody>
                    <a:bodyPr lIns="133350" tIns="114300" rIns="133350" bIns="95250"/>
                    <a:lstStyle/>
                    <a:p>
                      <a:r>
                        <a:rPr sz="1875" b="0">
                          <a:solidFill>
                            <a:srgbClr val="142A3D"/>
                          </a:solidFill>
                          <a:latin typeface="Arial"/>
                          <a:ea typeface="Arial"/>
                          <a:cs typeface="Arial"/>
                        </a:rPr>
                        <a:t>First renewal</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Continue, adjust future terms or pause new business</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bl>
          </a:graphicData>
        </a:graphic>
      </p:graphicFrame>
      <p:sp>
        <p:nvSpPr>
          <p:cNvPr id="6" name="text-58">
            <a:extLst xmlns:a="http://schemas.openxmlformats.org/drawingml/2006/main">
              <a:ext uri="{FF2B5EF4-FFF2-40B4-BE49-F238E27FC236}">
                <a16:creationId xmlns:a16="http://schemas.microsoft.com/office/drawing/2014/main" id="{446A578D-C174-4053-9C37-842D9D16C8E9}"/>
              </a:ext>
            </a:extLst>
          </p:cNvPr>
          <p:cNvSpPr>
            <a:spLocks xmlns:a="http://schemas.openxmlformats.org/drawingml/2006/main" noGrp="1"/>
          </p:cNvSpPr>
          <p:nvPr/>
        </p:nvSpPr>
        <p:spPr>
          <a:xfrm xmlns:a="http://schemas.openxmlformats.org/drawingml/2006/main">
            <a:off x="533400" y="5686425"/>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vl1pPr>
              <a:defRPr sz="2325" b="1">
                <a:solidFill>
                  <a:srgbClr val="087F8C"/>
                </a:solidFill>
                <a:latin typeface="Arial"/>
                <a:ea typeface="Arial"/>
                <a:cs typeface="Arial"/>
              </a:defRPr>
            </a:lvl1pPr>
            <a:lvl2pPr>
              <a:defRPr sz="2325" b="1">
                <a:solidFill>
                  <a:srgbClr val="087F8C"/>
                </a:solidFill>
                <a:latin typeface="Arial"/>
                <a:ea typeface="Arial"/>
                <a:cs typeface="Arial"/>
              </a:defRPr>
            </a:lvl2pPr>
            <a:lvl3pPr>
              <a:defRPr sz="2325" b="1">
                <a:solidFill>
                  <a:srgbClr val="087F8C"/>
                </a:solidFill>
                <a:latin typeface="Arial"/>
                <a:ea typeface="Arial"/>
                <a:cs typeface="Arial"/>
              </a:defRPr>
            </a:lvl3pPr>
            <a:lvl4pPr>
              <a:defRPr sz="2325" b="1">
                <a:solidFill>
                  <a:srgbClr val="087F8C"/>
                </a:solidFill>
                <a:latin typeface="Arial"/>
                <a:ea typeface="Arial"/>
                <a:cs typeface="Arial"/>
              </a:defRPr>
            </a:lvl4pPr>
            <a:lvl5pPr>
              <a:defRPr sz="2325" b="1">
                <a:solidFill>
                  <a:srgbClr val="087F8C"/>
                </a:solidFill>
                <a:latin typeface="Arial"/>
                <a:ea typeface="Arial"/>
                <a:cs typeface="Arial"/>
              </a:defRPr>
            </a:lvl5pPr>
            <a:lvl6pPr>
              <a:defRPr sz="2325" b="1">
                <a:solidFill>
                  <a:srgbClr val="087F8C"/>
                </a:solidFill>
                <a:latin typeface="Arial"/>
                <a:ea typeface="Arial"/>
                <a:cs typeface="Arial"/>
              </a:defRPr>
            </a:lvl6pPr>
            <a:lvl7pPr>
              <a:defRPr sz="2325" b="1">
                <a:solidFill>
                  <a:srgbClr val="087F8C"/>
                </a:solidFill>
                <a:latin typeface="Arial"/>
                <a:ea typeface="Arial"/>
                <a:cs typeface="Arial"/>
              </a:defRPr>
            </a:lvl7pPr>
            <a:lvl8pPr>
              <a:defRPr sz="2325" b="1">
                <a:solidFill>
                  <a:srgbClr val="087F8C"/>
                </a:solidFill>
                <a:latin typeface="Arial"/>
                <a:ea typeface="Arial"/>
                <a:cs typeface="Arial"/>
              </a:defRPr>
            </a:lvl8pPr>
            <a:lvl9pPr>
              <a:defRPr sz="2325" b="1">
                <a:solidFill>
                  <a:srgbClr val="087F8C"/>
                </a:solidFill>
                <a:latin typeface="Arial"/>
                <a:ea typeface="Arial"/>
                <a:cs typeface="Arial"/>
              </a:defRPr>
            </a:lvl9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Existing obligations remain after new business stops.</a:t>
            </a:r>
          </a:p>
        </p:txBody>
      </p:sp>
    </p:spTree>
    <p:extLst>
      <p:ext uri="{BB962C8B-B14F-4D97-AF65-F5344CB8AC3E}">
        <p14:creationId xmlns:p14="http://schemas.microsoft.com/office/powerpoint/2010/main" val="2003418221"/>
      </p:ext>
    </p:extLst>
  </p:cSld>
</p:sld>
</file>

<file path=ppt/slides/slide11.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59">
            <a:extLst xmlns:a="http://schemas.openxmlformats.org/drawingml/2006/main">
              <a:ext uri="{FF2B5EF4-FFF2-40B4-BE49-F238E27FC236}">
                <a16:creationId xmlns:a16="http://schemas.microsoft.com/office/drawing/2014/main" id="{EB9F92DE-C05C-4E64-93AB-25CA2AAAA7FB}"/>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Appendix A: financial definitions</a:t>
            </a:r>
          </a:p>
        </p:txBody>
      </p:sp>
      <p:sp>
        <p:nvSpPr>
          <p:cNvPr id="3" name="text-60">
            <a:extLst xmlns:a="http://schemas.openxmlformats.org/drawingml/2006/main">
              <a:ext uri="{FF2B5EF4-FFF2-40B4-BE49-F238E27FC236}">
                <a16:creationId xmlns:a16="http://schemas.microsoft.com/office/drawing/2014/main" id="{0E7E6314-3346-470E-AC80-68BCEA54CC7E}"/>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Source: Exhibit A and case glossary. Source money: CAD thousands; analysis outputs: CAD.</a:t>
            </a:r>
          </a:p>
        </p:txBody>
      </p:sp>
      <p:sp>
        <p:nvSpPr>
          <p:cNvPr id="4" name="text-61">
            <a:extLst xmlns:a="http://schemas.openxmlformats.org/drawingml/2006/main">
              <a:ext uri="{FF2B5EF4-FFF2-40B4-BE49-F238E27FC236}">
                <a16:creationId xmlns:a16="http://schemas.microsoft.com/office/drawing/2014/main" id="{9AA1FD3A-B4FA-4E8A-9250-F7A6D9CF1B38}"/>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696CE728-AF1A-4FE5-9D87-1534926E7580}"/>
              </a:ext>
            </a:extLst>
          </p:cNvPr>
          <p:cNvGraphicFramePr/>
          <p:nvPr/>
        </p:nvGraphicFramePr>
        <p:xfrm>
          <a:off xmlns:a="http://schemas.openxmlformats.org/drawingml/2006/main" x="533400" y="1676400"/>
          <a:ext xmlns:a="http://schemas.openxmlformats.org/drawingml/2006/main" cx="11125200" cy="4095750"/>
        </p:xfrm>
        <a:graphic xmlns:a="http://schemas.openxmlformats.org/drawingml/2006/main">
          <a:graphicData uri="http://schemas.openxmlformats.org/drawingml/2006/table">
            <a:tbl>
              <a:tblPr/>
              <a:tblGrid>
                <a:gridCol w="2571750"/>
                <a:gridCol w="3905250"/>
                <a:gridCol w="4648200"/>
              </a:tblGrid>
              <a:tr h="682625">
                <a:tc>
                  <a:txBody>
                    <a:bodyPr lIns="133350" tIns="114300" rIns="133350" bIns="95250"/>
                    <a:lstStyle/>
                    <a:p>
                      <a:r>
                        <a:rPr sz="1725" b="1">
                          <a:solidFill>
                            <a:srgbClr val="FFFFFF"/>
                          </a:solidFill>
                          <a:latin typeface="Arial"/>
                          <a:ea typeface="Arial"/>
                          <a:cs typeface="Arial"/>
                        </a:rPr>
                        <a:t>Metric</a:t>
                      </a:r>
                    </a:p>
                  </a:txBody>
                  <a:tcPr marL="91440" marR="91440" marT="45720" marB="45720" anchor="ctr">
                    <a:lnL w="9525">
                      <a:solidFill>
                        <a:srgbClr val="F5F3EF"/>
                      </a:solidFill>
                      <a:prstDash val="solid"/>
                    </a:lnL>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c>
                  <a:txBody>
                    <a:bodyPr lIns="133350" tIns="114300" rIns="133350" bIns="95250"/>
                    <a:lstStyle/>
                    <a:p>
                      <a:r>
                        <a:rPr sz="1725" b="1">
                          <a:solidFill>
                            <a:srgbClr val="FFFFFF"/>
                          </a:solidFill>
                          <a:latin typeface="Arial"/>
                          <a:ea typeface="Arial"/>
                          <a:cs typeface="Arial"/>
                        </a:rPr>
                        <a:t>Calculation</a:t>
                      </a:r>
                    </a:p>
                  </a:txBody>
                  <a:tcPr marL="91440" marR="91440" marT="45720" marB="45720" anchor="ctr">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c>
                  <a:txBody>
                    <a:bodyPr lIns="133350" tIns="114300" rIns="133350" bIns="95250"/>
                    <a:lstStyle/>
                    <a:p>
                      <a:r>
                        <a:rPr sz="1725" b="1">
                          <a:solidFill>
                            <a:srgbClr val="FFFFFF"/>
                          </a:solidFill>
                          <a:latin typeface="Arial"/>
                          <a:ea typeface="Arial"/>
                          <a:cs typeface="Arial"/>
                        </a:rPr>
                        <a:t>Interpretation</a:t>
                      </a:r>
                    </a:p>
                  </a:txBody>
                  <a:tcPr marL="91440" marR="91440" marT="45720" marB="45720" anchor="ctr">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r>
              <a:tr h="682625">
                <a:tc>
                  <a:txBody>
                    <a:bodyPr lIns="133350" tIns="114300" rIns="133350" bIns="95250"/>
                    <a:lstStyle/>
                    <a:p>
                      <a:r>
                        <a:rPr sz="1725" b="0">
                          <a:solidFill>
                            <a:srgbClr val="142A3D"/>
                          </a:solidFill>
                          <a:latin typeface="Arial"/>
                          <a:ea typeface="Arial"/>
                          <a:cs typeface="Arial"/>
                        </a:rPr>
                        <a:t>Frequency</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725" b="0">
                          <a:solidFill>
                            <a:srgbClr val="142A3D"/>
                          </a:solidFill>
                          <a:latin typeface="Arial"/>
                          <a:ea typeface="Arial"/>
                          <a:cs typeface="Arial"/>
                        </a:rPr>
                        <a:t>Claims / exposure</a:t>
                      </a:r>
                    </a:p>
                  </a:txBody>
                  <a:tcPr marL="91440" marR="91440" marT="45720" marB="45720" anchor="ctr">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725" b="0">
                          <a:solidFill>
                            <a:srgbClr val="142A3D"/>
                          </a:solidFill>
                          <a:latin typeface="Arial"/>
                          <a:ea typeface="Arial"/>
                          <a:cs typeface="Arial"/>
                        </a:rPr>
                        <a:t>Claims per compatible exposure unit</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682625">
                <a:tc>
                  <a:txBody>
                    <a:bodyPr lIns="133350" tIns="114300" rIns="133350" bIns="95250"/>
                    <a:lstStyle/>
                    <a:p>
                      <a:r>
                        <a:rPr sz="1725" b="0">
                          <a:solidFill>
                            <a:srgbClr val="142A3D"/>
                          </a:solidFill>
                          <a:latin typeface="Arial"/>
                          <a:ea typeface="Arial"/>
                          <a:cs typeface="Arial"/>
                        </a:rPr>
                        <a:t>Severity</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725" b="0">
                          <a:solidFill>
                            <a:srgbClr val="142A3D"/>
                          </a:solidFill>
                          <a:latin typeface="Arial"/>
                          <a:ea typeface="Arial"/>
                          <a:cs typeface="Arial"/>
                        </a:rPr>
                        <a:t>Incurred loss / claims</a:t>
                      </a:r>
                    </a:p>
                  </a:txBody>
                  <a:tcPr marL="91440" marR="91440" marT="45720" marB="45720" anchor="ctr">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725" b="0">
                          <a:solidFill>
                            <a:srgbClr val="142A3D"/>
                          </a:solidFill>
                          <a:latin typeface="Arial"/>
                          <a:ea typeface="Arial"/>
                          <a:cs typeface="Arial"/>
                        </a:rPr>
                        <a:t>Historical cost per claim</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r h="682625">
                <a:tc>
                  <a:txBody>
                    <a:bodyPr lIns="133350" tIns="114300" rIns="133350" bIns="95250"/>
                    <a:lstStyle/>
                    <a:p>
                      <a:r>
                        <a:rPr sz="1725" b="0">
                          <a:solidFill>
                            <a:srgbClr val="142A3D"/>
                          </a:solidFill>
                          <a:latin typeface="Arial"/>
                          <a:ea typeface="Arial"/>
                          <a:cs typeface="Arial"/>
                        </a:rPr>
                        <a:t>Pure premium</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725" b="0">
                          <a:solidFill>
                            <a:srgbClr val="142A3D"/>
                          </a:solidFill>
                          <a:latin typeface="Arial"/>
                          <a:ea typeface="Arial"/>
                          <a:cs typeface="Arial"/>
                        </a:rPr>
                        <a:t>Incurred loss / exposure</a:t>
                      </a:r>
                    </a:p>
                  </a:txBody>
                  <a:tcPr marL="91440" marR="91440" marT="45720" marB="45720" anchor="ctr">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725" b="0">
                          <a:solidFill>
                            <a:srgbClr val="142A3D"/>
                          </a:solidFill>
                          <a:latin typeface="Arial"/>
                          <a:ea typeface="Arial"/>
                          <a:cs typeface="Arial"/>
                        </a:rPr>
                        <a:t>Frequency × severity</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682625">
                <a:tc>
                  <a:txBody>
                    <a:bodyPr lIns="133350" tIns="114300" rIns="133350" bIns="95250"/>
                    <a:lstStyle/>
                    <a:p>
                      <a:r>
                        <a:rPr sz="1725" b="0">
                          <a:solidFill>
                            <a:srgbClr val="142A3D"/>
                          </a:solidFill>
                          <a:latin typeface="Arial"/>
                          <a:ea typeface="Arial"/>
                          <a:cs typeface="Arial"/>
                        </a:rPr>
                        <a:t>Combined ratio</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725" b="0">
                          <a:solidFill>
                            <a:srgbClr val="142A3D"/>
                          </a:solidFill>
                          <a:latin typeface="Arial"/>
                          <a:ea typeface="Arial"/>
                          <a:cs typeface="Arial"/>
                        </a:rPr>
                        <a:t>(Loss + expense) / premium</a:t>
                      </a:r>
                    </a:p>
                  </a:txBody>
                  <a:tcPr marL="91440" marR="91440" marT="45720" marB="45720" anchor="ctr">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725" b="0">
                          <a:solidFill>
                            <a:srgbClr val="142A3D"/>
                          </a:solidFill>
                          <a:latin typeface="Arial"/>
                          <a:ea typeface="Arial"/>
                          <a:cs typeface="Arial"/>
                        </a:rPr>
                        <a:t>Below 100% means underwriting profit</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r h="682625">
                <a:tc>
                  <a:txBody>
                    <a:bodyPr lIns="133350" tIns="114300" rIns="133350" bIns="95250"/>
                    <a:lstStyle/>
                    <a:p>
                      <a:r>
                        <a:rPr sz="1725" b="0">
                          <a:solidFill>
                            <a:srgbClr val="142A3D"/>
                          </a:solidFill>
                          <a:latin typeface="Arial"/>
                          <a:ea typeface="Arial"/>
                          <a:cs typeface="Arial"/>
                        </a:rPr>
                        <a:t>Underwriting profit</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725" b="0">
                          <a:solidFill>
                            <a:srgbClr val="142A3D"/>
                          </a:solidFill>
                          <a:latin typeface="Arial"/>
                          <a:ea typeface="Arial"/>
                          <a:cs typeface="Arial"/>
                        </a:rPr>
                        <a:t>Premium − loss − expense</a:t>
                      </a:r>
                    </a:p>
                  </a:txBody>
                  <a:tcPr marL="91440" marR="91440" marT="45720" marB="45720" anchor="ctr">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725" b="0">
                          <a:solidFill>
                            <a:srgbClr val="142A3D"/>
                          </a:solidFill>
                          <a:latin typeface="Arial"/>
                          <a:ea typeface="Arial"/>
                          <a:cs typeface="Arial"/>
                        </a:rPr>
                        <a:t>Annual flow, not available capital</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bl>
          </a:graphicData>
        </a:graphic>
      </p:graphicFrame>
    </p:spTree>
    <p:extLst>
      <p:ext uri="{BB962C8B-B14F-4D97-AF65-F5344CB8AC3E}">
        <p14:creationId xmlns:p14="http://schemas.microsoft.com/office/powerpoint/2010/main" val="1457230940"/>
      </p:ext>
    </p:extLst>
  </p:cSld>
</p:sld>
</file>

<file path=ppt/slides/slide12.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62">
            <a:extLst xmlns:a="http://schemas.openxmlformats.org/drawingml/2006/main">
              <a:ext uri="{FF2B5EF4-FFF2-40B4-BE49-F238E27FC236}">
                <a16:creationId xmlns:a16="http://schemas.microsoft.com/office/drawing/2014/main" id="{740CD870-B1F5-4048-ADDF-CA2A3133FD9F}"/>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Appendix B: model attribution changes with order</a:t>
            </a:r>
          </a:p>
        </p:txBody>
      </p:sp>
      <p:sp>
        <p:nvSpPr>
          <p:cNvPr id="3" name="text-63">
            <a:extLst xmlns:a="http://schemas.openxmlformats.org/drawingml/2006/main">
              <a:ext uri="{FF2B5EF4-FFF2-40B4-BE49-F238E27FC236}">
                <a16:creationId xmlns:a16="http://schemas.microsoft.com/office/drawing/2014/main" id="{E85407BE-E61D-4EAD-AA54-E4B66E32C20C}"/>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Source: Exhibit B. Additive categorical OLS on log loss; n=135; R²=95.01%.</a:t>
            </a:r>
          </a:p>
        </p:txBody>
      </p:sp>
      <p:sp>
        <p:nvSpPr>
          <p:cNvPr id="4" name="text-64">
            <a:extLst xmlns:a="http://schemas.openxmlformats.org/drawingml/2006/main">
              <a:ext uri="{FF2B5EF4-FFF2-40B4-BE49-F238E27FC236}">
                <a16:creationId xmlns:a16="http://schemas.microsoft.com/office/drawing/2014/main" id="{32F039C4-CA0E-45DC-A66A-C7F1563F99E1}"/>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6F815A25-B0B3-4E9F-AD74-5A7F8BCDC023}"/>
              </a:ext>
            </a:extLst>
          </p:cNvPr>
          <p:cNvGraphicFramePr/>
          <p:nvPr/>
        </p:nvGraphicFramePr>
        <p:xfrm>
          <a:off xmlns:a="http://schemas.openxmlformats.org/drawingml/2006/main" x="419100" y="1638300"/>
          <a:ext xmlns:a="http://schemas.openxmlformats.org/drawingml/2006/main" cx="11125200" cy="2428875"/>
        </p:xfrm>
        <a:graphic xmlns:a="http://schemas.openxmlformats.org/drawingml/2006/main">
          <a:graphicData uri="http://schemas.openxmlformats.org/drawingml/2006/chart">
            <c:chart xmlns:r="http://schemas.openxmlformats.org/officeDocument/2006/relationships" xmlns:c="http://schemas.openxmlformats.org/drawingml/2006/chart" r:id="Rd242673de2f64863"/>
          </a:graphicData>
        </a:graphic>
      </p:graphicFrame>
      <p:sp>
        <p:nvSpPr>
          <p:cNvPr id="6" name="text-65">
            <a:extLst xmlns:a="http://schemas.openxmlformats.org/drawingml/2006/main">
              <a:ext uri="{FF2B5EF4-FFF2-40B4-BE49-F238E27FC236}">
                <a16:creationId xmlns:a16="http://schemas.microsoft.com/office/drawing/2014/main" id="{9503CE91-F952-4546-9A45-3A502CE11818}"/>
              </a:ext>
            </a:extLst>
          </p:cNvPr>
          <p:cNvSpPr>
            <a:spLocks xmlns:a="http://schemas.openxmlformats.org/drawingml/2006/main" noGrp="1"/>
          </p:cNvSpPr>
          <p:nvPr/>
        </p:nvSpPr>
        <p:spPr>
          <a:xfrm xmlns:a="http://schemas.openxmlformats.org/drawingml/2006/main">
            <a:off x="533400" y="4429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087F8C"/>
                </a:solidFill>
                <a:latin typeface="Arial"/>
                <a:ea typeface="Arial"/>
                <a:cs typeface="Arial"/>
              </a:defRPr>
            </a:defPPr>
            <a:lvl1pPr>
              <a:defRPr sz="4500" b="1">
                <a:solidFill>
                  <a:srgbClr val="087F8C"/>
                </a:solidFill>
                <a:latin typeface="Arial"/>
                <a:ea typeface="Arial"/>
                <a:cs typeface="Arial"/>
              </a:defRPr>
            </a:lvl1pPr>
            <a:lvl2pPr>
              <a:defRPr sz="4500" b="1">
                <a:solidFill>
                  <a:srgbClr val="087F8C"/>
                </a:solidFill>
                <a:latin typeface="Arial"/>
                <a:ea typeface="Arial"/>
                <a:cs typeface="Arial"/>
              </a:defRPr>
            </a:lvl2pPr>
            <a:lvl3pPr>
              <a:defRPr sz="4500" b="1">
                <a:solidFill>
                  <a:srgbClr val="087F8C"/>
                </a:solidFill>
                <a:latin typeface="Arial"/>
                <a:ea typeface="Arial"/>
                <a:cs typeface="Arial"/>
              </a:defRPr>
            </a:lvl3pPr>
            <a:lvl4pPr>
              <a:defRPr sz="4500" b="1">
                <a:solidFill>
                  <a:srgbClr val="087F8C"/>
                </a:solidFill>
                <a:latin typeface="Arial"/>
                <a:ea typeface="Arial"/>
                <a:cs typeface="Arial"/>
              </a:defRPr>
            </a:lvl4pPr>
            <a:lvl5pPr>
              <a:defRPr sz="4500" b="1">
                <a:solidFill>
                  <a:srgbClr val="087F8C"/>
                </a:solidFill>
                <a:latin typeface="Arial"/>
                <a:ea typeface="Arial"/>
                <a:cs typeface="Arial"/>
              </a:defRPr>
            </a:lvl5pPr>
            <a:lvl6pPr>
              <a:defRPr sz="4500" b="1">
                <a:solidFill>
                  <a:srgbClr val="087F8C"/>
                </a:solidFill>
                <a:latin typeface="Arial"/>
                <a:ea typeface="Arial"/>
                <a:cs typeface="Arial"/>
              </a:defRPr>
            </a:lvl6pPr>
            <a:lvl7pPr>
              <a:defRPr sz="4500" b="1">
                <a:solidFill>
                  <a:srgbClr val="087F8C"/>
                </a:solidFill>
                <a:latin typeface="Arial"/>
                <a:ea typeface="Arial"/>
                <a:cs typeface="Arial"/>
              </a:defRPr>
            </a:lvl7pPr>
            <a:lvl8pPr>
              <a:defRPr sz="4500" b="1">
                <a:solidFill>
                  <a:srgbClr val="087F8C"/>
                </a:solidFill>
                <a:latin typeface="Arial"/>
                <a:ea typeface="Arial"/>
                <a:cs typeface="Arial"/>
              </a:defRPr>
            </a:lvl8pPr>
            <a:lvl9pPr>
              <a:defRPr sz="4500" b="1">
                <a:solidFill>
                  <a:srgbClr val="087F8C"/>
                </a:solidFill>
                <a:latin typeface="Arial"/>
                <a:ea typeface="Arial"/>
                <a:cs typeface="Arial"/>
              </a:defRPr>
            </a:lvl9pPr>
          </a:lstStyle>
          <a:p xmlns:a="http://schemas.openxmlformats.org/drawingml/2006/main">
            <a:pPr>
              <a:defRPr sz="4500" b="1">
                <a:solidFill>
                  <a:srgbClr val="087F8C"/>
                </a:solidFill>
                <a:latin typeface="Arial"/>
                <a:ea typeface="Arial"/>
                <a:cs typeface="Arial"/>
              </a:defRPr>
            </a:pPr>
            <a:r>
              <a:rPr sz="4500" b="1">
                <a:solidFill>
                  <a:srgbClr val="087F8C"/>
                </a:solidFill>
                <a:latin typeface="Arial"/>
                <a:ea typeface="Arial"/>
                <a:cs typeface="Arial"/>
              </a:rPr>
              <a:t>0.27%</a:t>
            </a:r>
          </a:p>
        </p:txBody>
      </p:sp>
      <p:sp>
        <p:nvSpPr>
          <p:cNvPr id="7" name="text-66">
            <a:extLst xmlns:a="http://schemas.openxmlformats.org/drawingml/2006/main">
              <a:ext uri="{FF2B5EF4-FFF2-40B4-BE49-F238E27FC236}">
                <a16:creationId xmlns:a16="http://schemas.microsoft.com/office/drawing/2014/main" id="{1F6F774D-91C0-47C8-A1EE-18E7CE378E2E}"/>
              </a:ext>
            </a:extLst>
          </p:cNvPr>
          <p:cNvSpPr>
            <a:spLocks xmlns:a="http://schemas.openxmlformats.org/drawingml/2006/main" noGrp="1"/>
          </p:cNvSpPr>
          <p:nvPr/>
        </p:nvSpPr>
        <p:spPr>
          <a:xfrm xmlns:a="http://schemas.openxmlformats.org/drawingml/2006/main">
            <a:off x="533400" y="5267325"/>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42A3D"/>
                </a:solidFill>
                <a:latin typeface="Arial"/>
                <a:ea typeface="Arial"/>
                <a:cs typeface="Arial"/>
              </a:defRPr>
            </a:defPPr>
            <a:lvl1pPr>
              <a:defRPr sz="1875" b="0">
                <a:solidFill>
                  <a:srgbClr val="142A3D"/>
                </a:solidFill>
                <a:latin typeface="Arial"/>
                <a:ea typeface="Arial"/>
                <a:cs typeface="Arial"/>
              </a:defRPr>
            </a:lvl1pPr>
            <a:lvl2pPr>
              <a:defRPr sz="1875" b="0">
                <a:solidFill>
                  <a:srgbClr val="142A3D"/>
                </a:solidFill>
                <a:latin typeface="Arial"/>
                <a:ea typeface="Arial"/>
                <a:cs typeface="Arial"/>
              </a:defRPr>
            </a:lvl2pPr>
            <a:lvl3pPr>
              <a:defRPr sz="1875" b="0">
                <a:solidFill>
                  <a:srgbClr val="142A3D"/>
                </a:solidFill>
                <a:latin typeface="Arial"/>
                <a:ea typeface="Arial"/>
                <a:cs typeface="Arial"/>
              </a:defRPr>
            </a:lvl3pPr>
            <a:lvl4pPr>
              <a:defRPr sz="1875" b="0">
                <a:solidFill>
                  <a:srgbClr val="142A3D"/>
                </a:solidFill>
                <a:latin typeface="Arial"/>
                <a:ea typeface="Arial"/>
                <a:cs typeface="Arial"/>
              </a:defRPr>
            </a:lvl4pPr>
            <a:lvl5pPr>
              <a:defRPr sz="1875" b="0">
                <a:solidFill>
                  <a:srgbClr val="142A3D"/>
                </a:solidFill>
                <a:latin typeface="Arial"/>
                <a:ea typeface="Arial"/>
                <a:cs typeface="Arial"/>
              </a:defRPr>
            </a:lvl5pPr>
            <a:lvl6pPr>
              <a:defRPr sz="1875" b="0">
                <a:solidFill>
                  <a:srgbClr val="142A3D"/>
                </a:solidFill>
                <a:latin typeface="Arial"/>
                <a:ea typeface="Arial"/>
                <a:cs typeface="Arial"/>
              </a:defRPr>
            </a:lvl6pPr>
            <a:lvl7pPr>
              <a:defRPr sz="1875" b="0">
                <a:solidFill>
                  <a:srgbClr val="142A3D"/>
                </a:solidFill>
                <a:latin typeface="Arial"/>
                <a:ea typeface="Arial"/>
                <a:cs typeface="Arial"/>
              </a:defRPr>
            </a:lvl7pPr>
            <a:lvl8pPr>
              <a:defRPr sz="1875" b="0">
                <a:solidFill>
                  <a:srgbClr val="142A3D"/>
                </a:solidFill>
                <a:latin typeface="Arial"/>
                <a:ea typeface="Arial"/>
                <a:cs typeface="Arial"/>
              </a:defRPr>
            </a:lvl8pPr>
            <a:lvl9pPr>
              <a:defRPr sz="1875" b="0">
                <a:solidFill>
                  <a:srgbClr val="142A3D"/>
                </a:solidFill>
                <a:latin typeface="Arial"/>
                <a:ea typeface="Arial"/>
                <a:cs typeface="Arial"/>
              </a:defRPr>
            </a:lvl9pPr>
          </a:lstStyle>
          <a:p xmlns:a="http://schemas.openxmlformats.org/drawingml/2006/main">
            <a:pPr>
              <a:defRPr sz="1875" b="0">
                <a:solidFill>
                  <a:srgbClr val="142A3D"/>
                </a:solidFill>
                <a:latin typeface="Arial"/>
                <a:ea typeface="Arial"/>
                <a:cs typeface="Arial"/>
              </a:defRPr>
            </a:pPr>
            <a:r>
              <a:rPr sz="1875" b="0">
                <a:solidFill>
                  <a:srgbClr val="142A3D"/>
                </a:solidFill>
                <a:latin typeface="Arial"/>
                <a:ea typeface="Arial"/>
                <a:cs typeface="Arial"/>
              </a:rPr>
              <a:t>industry’s unique share</a:t>
            </a:r>
          </a:p>
          <a:p xmlns:a="http://schemas.openxmlformats.org/drawingml/2006/main">
            <a:pPr>
              <a:defRPr sz="1875" b="0">
                <a:solidFill>
                  <a:srgbClr val="142A3D"/>
                </a:solidFill>
                <a:latin typeface="Arial"/>
                <a:ea typeface="Arial"/>
                <a:cs typeface="Arial"/>
              </a:defRPr>
            </a:pPr>
            <a:r>
              <a:rPr sz="1875" b="0">
                <a:solidFill>
                  <a:srgbClr val="142A3D"/>
                </a:solidFill>
                <a:latin typeface="Arial"/>
                <a:ea typeface="Arial"/>
                <a:cs typeface="Arial"/>
              </a:rPr>
              <a:t>of total log-loss variance</a:t>
            </a:r>
          </a:p>
        </p:txBody>
      </p:sp>
      <p:sp>
        <p:nvSpPr>
          <p:cNvPr id="8" name="text-67">
            <a:extLst xmlns:a="http://schemas.openxmlformats.org/drawingml/2006/main">
              <a:ext uri="{FF2B5EF4-FFF2-40B4-BE49-F238E27FC236}">
                <a16:creationId xmlns:a16="http://schemas.microsoft.com/office/drawing/2014/main" id="{499D5585-0B6E-44C3-BDA7-1503B48E935E}"/>
              </a:ext>
            </a:extLst>
          </p:cNvPr>
          <p:cNvSpPr>
            <a:spLocks xmlns:a="http://schemas.openxmlformats.org/drawingml/2006/main" noGrp="1"/>
          </p:cNvSpPr>
          <p:nvPr/>
        </p:nvSpPr>
        <p:spPr>
          <a:xfrm xmlns:a="http://schemas.openxmlformats.org/drawingml/2006/main">
            <a:off x="6191250" y="442912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087F8C"/>
                </a:solidFill>
                <a:latin typeface="Arial"/>
                <a:ea typeface="Arial"/>
                <a:cs typeface="Arial"/>
              </a:defRPr>
            </a:defPPr>
            <a:lvl1pPr>
              <a:defRPr sz="4500" b="1">
                <a:solidFill>
                  <a:srgbClr val="087F8C"/>
                </a:solidFill>
                <a:latin typeface="Arial"/>
                <a:ea typeface="Arial"/>
                <a:cs typeface="Arial"/>
              </a:defRPr>
            </a:lvl1pPr>
            <a:lvl2pPr>
              <a:defRPr sz="4500" b="1">
                <a:solidFill>
                  <a:srgbClr val="087F8C"/>
                </a:solidFill>
                <a:latin typeface="Arial"/>
                <a:ea typeface="Arial"/>
                <a:cs typeface="Arial"/>
              </a:defRPr>
            </a:lvl2pPr>
            <a:lvl3pPr>
              <a:defRPr sz="4500" b="1">
                <a:solidFill>
                  <a:srgbClr val="087F8C"/>
                </a:solidFill>
                <a:latin typeface="Arial"/>
                <a:ea typeface="Arial"/>
                <a:cs typeface="Arial"/>
              </a:defRPr>
            </a:lvl3pPr>
            <a:lvl4pPr>
              <a:defRPr sz="4500" b="1">
                <a:solidFill>
                  <a:srgbClr val="087F8C"/>
                </a:solidFill>
                <a:latin typeface="Arial"/>
                <a:ea typeface="Arial"/>
                <a:cs typeface="Arial"/>
              </a:defRPr>
            </a:lvl4pPr>
            <a:lvl5pPr>
              <a:defRPr sz="4500" b="1">
                <a:solidFill>
                  <a:srgbClr val="087F8C"/>
                </a:solidFill>
                <a:latin typeface="Arial"/>
                <a:ea typeface="Arial"/>
                <a:cs typeface="Arial"/>
              </a:defRPr>
            </a:lvl5pPr>
            <a:lvl6pPr>
              <a:defRPr sz="4500" b="1">
                <a:solidFill>
                  <a:srgbClr val="087F8C"/>
                </a:solidFill>
                <a:latin typeface="Arial"/>
                <a:ea typeface="Arial"/>
                <a:cs typeface="Arial"/>
              </a:defRPr>
            </a:lvl6pPr>
            <a:lvl7pPr>
              <a:defRPr sz="4500" b="1">
                <a:solidFill>
                  <a:srgbClr val="087F8C"/>
                </a:solidFill>
                <a:latin typeface="Arial"/>
                <a:ea typeface="Arial"/>
                <a:cs typeface="Arial"/>
              </a:defRPr>
            </a:lvl7pPr>
            <a:lvl8pPr>
              <a:defRPr sz="4500" b="1">
                <a:solidFill>
                  <a:srgbClr val="087F8C"/>
                </a:solidFill>
                <a:latin typeface="Arial"/>
                <a:ea typeface="Arial"/>
                <a:cs typeface="Arial"/>
              </a:defRPr>
            </a:lvl8pPr>
            <a:lvl9pPr>
              <a:defRPr sz="4500" b="1">
                <a:solidFill>
                  <a:srgbClr val="087F8C"/>
                </a:solidFill>
                <a:latin typeface="Arial"/>
                <a:ea typeface="Arial"/>
                <a:cs typeface="Arial"/>
              </a:defRPr>
            </a:lvl9pPr>
          </a:lstStyle>
          <a:p xmlns:a="http://schemas.openxmlformats.org/drawingml/2006/main">
            <a:pPr>
              <a:defRPr sz="4500" b="1">
                <a:solidFill>
                  <a:srgbClr val="087F8C"/>
                </a:solidFill>
                <a:latin typeface="Arial"/>
                <a:ea typeface="Arial"/>
                <a:cs typeface="Arial"/>
              </a:defRPr>
            </a:pPr>
            <a:r>
              <a:rPr sz="4500" b="1">
                <a:solidFill>
                  <a:srgbClr val="087F8C"/>
                </a:solidFill>
                <a:latin typeface="Arial"/>
                <a:ea typeface="Arial"/>
                <a:cs typeface="Arial"/>
              </a:rPr>
              <a:t>0.651</a:t>
            </a:r>
          </a:p>
        </p:txBody>
      </p:sp>
      <p:sp>
        <p:nvSpPr>
          <p:cNvPr id="9" name="text-68">
            <a:extLst xmlns:a="http://schemas.openxmlformats.org/drawingml/2006/main">
              <a:ext uri="{FF2B5EF4-FFF2-40B4-BE49-F238E27FC236}">
                <a16:creationId xmlns:a16="http://schemas.microsoft.com/office/drawing/2014/main" id="{3E029C7E-AFA5-418C-AFAE-A46FFA266A49}"/>
              </a:ext>
            </a:extLst>
          </p:cNvPr>
          <p:cNvSpPr>
            <a:spLocks xmlns:a="http://schemas.openxmlformats.org/drawingml/2006/main" noGrp="1"/>
          </p:cNvSpPr>
          <p:nvPr/>
        </p:nvSpPr>
        <p:spPr>
          <a:xfrm xmlns:a="http://schemas.openxmlformats.org/drawingml/2006/main">
            <a:off x="6191250" y="5267325"/>
            <a:ext cx="5467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A3D"/>
                </a:solidFill>
                <a:latin typeface="Arial"/>
                <a:ea typeface="Arial"/>
                <a:cs typeface="Arial"/>
              </a:defRPr>
            </a:defPPr>
            <a:lvl1pPr>
              <a:defRPr sz="1800" b="0">
                <a:solidFill>
                  <a:srgbClr val="142A3D"/>
                </a:solidFill>
                <a:latin typeface="Arial"/>
                <a:ea typeface="Arial"/>
                <a:cs typeface="Arial"/>
              </a:defRPr>
            </a:lvl1pPr>
            <a:lvl2pPr>
              <a:defRPr sz="1800" b="0">
                <a:solidFill>
                  <a:srgbClr val="142A3D"/>
                </a:solidFill>
                <a:latin typeface="Arial"/>
                <a:ea typeface="Arial"/>
                <a:cs typeface="Arial"/>
              </a:defRPr>
            </a:lvl2pPr>
            <a:lvl3pPr>
              <a:defRPr sz="1800" b="0">
                <a:solidFill>
                  <a:srgbClr val="142A3D"/>
                </a:solidFill>
                <a:latin typeface="Arial"/>
                <a:ea typeface="Arial"/>
                <a:cs typeface="Arial"/>
              </a:defRPr>
            </a:lvl3pPr>
            <a:lvl4pPr>
              <a:defRPr sz="1800" b="0">
                <a:solidFill>
                  <a:srgbClr val="142A3D"/>
                </a:solidFill>
                <a:latin typeface="Arial"/>
                <a:ea typeface="Arial"/>
                <a:cs typeface="Arial"/>
              </a:defRPr>
            </a:lvl4pPr>
            <a:lvl5pPr>
              <a:defRPr sz="1800" b="0">
                <a:solidFill>
                  <a:srgbClr val="142A3D"/>
                </a:solidFill>
                <a:latin typeface="Arial"/>
                <a:ea typeface="Arial"/>
                <a:cs typeface="Arial"/>
              </a:defRPr>
            </a:lvl5pPr>
            <a:lvl6pPr>
              <a:defRPr sz="1800" b="0">
                <a:solidFill>
                  <a:srgbClr val="142A3D"/>
                </a:solidFill>
                <a:latin typeface="Arial"/>
                <a:ea typeface="Arial"/>
                <a:cs typeface="Arial"/>
              </a:defRPr>
            </a:lvl6pPr>
            <a:lvl7pPr>
              <a:defRPr sz="1800" b="0">
                <a:solidFill>
                  <a:srgbClr val="142A3D"/>
                </a:solidFill>
                <a:latin typeface="Arial"/>
                <a:ea typeface="Arial"/>
                <a:cs typeface="Arial"/>
              </a:defRPr>
            </a:lvl7pPr>
            <a:lvl8pPr>
              <a:defRPr sz="1800" b="0">
                <a:solidFill>
                  <a:srgbClr val="142A3D"/>
                </a:solidFill>
                <a:latin typeface="Arial"/>
                <a:ea typeface="Arial"/>
                <a:cs typeface="Arial"/>
              </a:defRPr>
            </a:lvl8pPr>
            <a:lvl9pPr>
              <a:defRPr sz="1800" b="0">
                <a:solidFill>
                  <a:srgbClr val="142A3D"/>
                </a:solidFill>
                <a:latin typeface="Arial"/>
                <a:ea typeface="Arial"/>
                <a:cs typeface="Arial"/>
              </a:defRPr>
            </a:lvl9pPr>
          </a:lstStyle>
          <a:p xmlns:a="http://schemas.openxmlformats.org/drawingml/2006/main">
            <a:pPr>
              <a:defRPr sz="1800" b="0">
                <a:solidFill>
                  <a:srgbClr val="142A3D"/>
                </a:solidFill>
                <a:latin typeface="Arial"/>
                <a:ea typeface="Arial"/>
                <a:cs typeface="Arial"/>
              </a:defRPr>
            </a:pPr>
            <a:r>
              <a:rPr sz="1800" b="0">
                <a:solidFill>
                  <a:srgbClr val="142A3D"/>
                </a:solidFill>
                <a:latin typeface="Arial"/>
                <a:ea typeface="Arial"/>
                <a:cs typeface="Arial"/>
              </a:rPr>
              <a:t>conditional oversight geometric-mean ratio</a:t>
            </a:r>
          </a:p>
          <a:p xmlns:a="http://schemas.openxmlformats.org/drawingml/2006/main">
            <a:pPr>
              <a:defRPr sz="1800" b="0">
                <a:solidFill>
                  <a:srgbClr val="142A3D"/>
                </a:solidFill>
                <a:latin typeface="Arial"/>
                <a:ea typeface="Arial"/>
                <a:cs typeface="Arial"/>
              </a:defRPr>
            </a:pPr>
            <a:r>
              <a:rPr sz="1800" b="0">
                <a:solidFill>
                  <a:srgbClr val="142A3D"/>
                </a:solidFill>
                <a:latin typeface="Arial"/>
                <a:ea typeface="Arial"/>
                <a:cs typeface="Arial"/>
              </a:rPr>
              <a:t>Association only. No automatic premium discount.</a:t>
            </a:r>
          </a:p>
        </p:txBody>
      </p:sp>
    </p:spTree>
    <p:extLst>
      <p:ext uri="{BB962C8B-B14F-4D97-AF65-F5344CB8AC3E}">
        <p14:creationId xmlns:p14="http://schemas.microsoft.com/office/powerpoint/2010/main" val="725145364"/>
      </p:ext>
    </p:extLst>
  </p:cSld>
</p:sld>
</file>

<file path=ppt/slides/slide13.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69">
            <a:extLst xmlns:a="http://schemas.openxmlformats.org/drawingml/2006/main">
              <a:ext uri="{FF2B5EF4-FFF2-40B4-BE49-F238E27FC236}">
                <a16:creationId xmlns:a16="http://schemas.microsoft.com/office/drawing/2014/main" id="{B8A7B222-8091-4E41-913D-02E31F3D4D84}"/>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Appendix C: five-year company results</a:t>
            </a:r>
          </a:p>
        </p:txBody>
      </p:sp>
      <p:sp>
        <p:nvSpPr>
          <p:cNvPr id="3" name="text-70">
            <a:extLst xmlns:a="http://schemas.openxmlformats.org/drawingml/2006/main">
              <a:ext uri="{FF2B5EF4-FFF2-40B4-BE49-F238E27FC236}">
                <a16:creationId xmlns:a16="http://schemas.microsoft.com/office/drawing/2014/main" id="{C0CD5D69-B6D3-4D67-8AA5-A97445136501}"/>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Source: Exhibit A. CAD millions; company combined ratios use aggregate amounts.</a:t>
            </a:r>
          </a:p>
        </p:txBody>
      </p:sp>
      <p:sp>
        <p:nvSpPr>
          <p:cNvPr id="4" name="text-71">
            <a:extLst xmlns:a="http://schemas.openxmlformats.org/drawingml/2006/main">
              <a:ext uri="{FF2B5EF4-FFF2-40B4-BE49-F238E27FC236}">
                <a16:creationId xmlns:a16="http://schemas.microsoft.com/office/drawing/2014/main" id="{E856602E-1EED-48C1-B522-B269D2DB4D44}"/>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13</a:t>
            </a:r>
          </a:p>
        </p:txBody>
      </p:sp>
      <p:graphicFrame>
        <p:nvGraphicFramePr>
          <p:cNvPr id="5" name="">
            <a:extLst xmlns:a="http://schemas.openxmlformats.org/drawingml/2006/main">
              <a:ext uri="{FF2B5EF4-FFF2-40B4-BE49-F238E27FC236}">
                <a16:creationId xmlns:a16="http://schemas.microsoft.com/office/drawing/2014/main" id="{7E188C5D-C15E-499A-BB12-B63B1813DDB6}"/>
              </a:ext>
            </a:extLst>
          </p:cNvPr>
          <p:cNvGraphicFramePr/>
          <p:nvPr/>
        </p:nvGraphicFramePr>
        <p:xfrm>
          <a:off xmlns:a="http://schemas.openxmlformats.org/drawingml/2006/main" x="533400" y="1638300"/>
          <a:ext xmlns:a="http://schemas.openxmlformats.org/drawingml/2006/main" cx="11125200" cy="3714750"/>
        </p:xfrm>
        <a:graphic xmlns:a="http://schemas.openxmlformats.org/drawingml/2006/main">
          <a:graphicData uri="http://schemas.openxmlformats.org/drawingml/2006/table">
            <a:tbl>
              <a:tblPr/>
              <a:tblGrid>
                <a:gridCol w="1905000"/>
                <a:gridCol w="2952750"/>
                <a:gridCol w="3333750"/>
                <a:gridCol w="2933700"/>
              </a:tblGrid>
              <a:tr h="619125">
                <a:tc>
                  <a:txBody>
                    <a:bodyPr lIns="133350" tIns="114300" rIns="133350" bIns="95250"/>
                    <a:lstStyle/>
                    <a:p>
                      <a:r>
                        <a:rPr sz="1875" b="1">
                          <a:solidFill>
                            <a:srgbClr val="FFFFFF"/>
                          </a:solidFill>
                          <a:latin typeface="Arial"/>
                          <a:ea typeface="Arial"/>
                          <a:cs typeface="Arial"/>
                        </a:rPr>
                        <a:t>Year</a:t>
                      </a:r>
                    </a:p>
                  </a:txBody>
                  <a:tcPr marL="91440" marR="91440" marT="45720" marB="45720" anchor="ctr">
                    <a:lnL w="9525">
                      <a:solidFill>
                        <a:srgbClr val="F5F3EF"/>
                      </a:solidFill>
                      <a:prstDash val="solid"/>
                    </a:lnL>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c>
                  <a:txBody>
                    <a:bodyPr lIns="133350" tIns="114300" rIns="133350" bIns="95250"/>
                    <a:lstStyle/>
                    <a:p>
                      <a:r>
                        <a:rPr sz="1875" b="1">
                          <a:solidFill>
                            <a:srgbClr val="FFFFFF"/>
                          </a:solidFill>
                          <a:latin typeface="Arial"/>
                          <a:ea typeface="Arial"/>
                          <a:cs typeface="Arial"/>
                        </a:rPr>
                        <a:t>Earned premium</a:t>
                      </a:r>
                    </a:p>
                  </a:txBody>
                  <a:tcPr marL="91440" marR="91440" marT="45720" marB="45720" anchor="ctr">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c>
                  <a:txBody>
                    <a:bodyPr lIns="133350" tIns="114300" rIns="133350" bIns="95250"/>
                    <a:lstStyle/>
                    <a:p>
                      <a:r>
                        <a:rPr sz="1875" b="1">
                          <a:solidFill>
                            <a:srgbClr val="FFFFFF"/>
                          </a:solidFill>
                          <a:latin typeface="Arial"/>
                          <a:ea typeface="Arial"/>
                          <a:cs typeface="Arial"/>
                        </a:rPr>
                        <a:t>Underwriting profit</a:t>
                      </a:r>
                    </a:p>
                  </a:txBody>
                  <a:tcPr marL="91440" marR="91440" marT="45720" marB="45720" anchor="ctr">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c>
                  <a:txBody>
                    <a:bodyPr lIns="133350" tIns="114300" rIns="133350" bIns="95250"/>
                    <a:lstStyle/>
                    <a:p>
                      <a:r>
                        <a:rPr sz="1875" b="1">
                          <a:solidFill>
                            <a:srgbClr val="FFFFFF"/>
                          </a:solidFill>
                          <a:latin typeface="Arial"/>
                          <a:ea typeface="Arial"/>
                          <a:cs typeface="Arial"/>
                        </a:rPr>
                        <a:t>Combined ratio</a:t>
                      </a:r>
                    </a:p>
                  </a:txBody>
                  <a:tcPr marL="91440" marR="91440" marT="45720" marB="45720" anchor="ctr">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r>
              <a:tr h="619125">
                <a:tc>
                  <a:txBody>
                    <a:bodyPr lIns="133350" tIns="114300" rIns="133350" bIns="95250"/>
                    <a:lstStyle/>
                    <a:p>
                      <a:r>
                        <a:rPr sz="1875" b="0">
                          <a:solidFill>
                            <a:srgbClr val="142A3D"/>
                          </a:solidFill>
                          <a:latin typeface="Arial"/>
                          <a:ea typeface="Arial"/>
                          <a:cs typeface="Arial"/>
                        </a:rPr>
                        <a:t>2021</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606.43</a:t>
                      </a:r>
                    </a:p>
                  </a:txBody>
                  <a:tcPr marL="91440" marR="91440" marT="45720" marB="45720" anchor="ctr">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104.88</a:t>
                      </a:r>
                    </a:p>
                  </a:txBody>
                  <a:tcPr marL="91440" marR="91440" marT="45720" marB="45720" anchor="ctr">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82.71%</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619125">
                <a:tc>
                  <a:txBody>
                    <a:bodyPr lIns="133350" tIns="114300" rIns="133350" bIns="95250"/>
                    <a:lstStyle/>
                    <a:p>
                      <a:r>
                        <a:rPr sz="1875" b="0">
                          <a:solidFill>
                            <a:srgbClr val="142A3D"/>
                          </a:solidFill>
                          <a:latin typeface="Arial"/>
                          <a:ea typeface="Arial"/>
                          <a:cs typeface="Arial"/>
                        </a:rPr>
                        <a:t>2022</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582.52</a:t>
                      </a:r>
                    </a:p>
                  </a:txBody>
                  <a:tcPr marL="91440" marR="91440" marT="45720" marB="45720" anchor="ctr">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92.18</a:t>
                      </a:r>
                    </a:p>
                  </a:txBody>
                  <a:tcPr marL="91440" marR="91440" marT="45720" marB="45720" anchor="ctr">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84.18%</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r h="619125">
                <a:tc>
                  <a:txBody>
                    <a:bodyPr lIns="133350" tIns="114300" rIns="133350" bIns="95250"/>
                    <a:lstStyle/>
                    <a:p>
                      <a:r>
                        <a:rPr sz="1875" b="0">
                          <a:solidFill>
                            <a:srgbClr val="142A3D"/>
                          </a:solidFill>
                          <a:latin typeface="Arial"/>
                          <a:ea typeface="Arial"/>
                          <a:cs typeface="Arial"/>
                        </a:rPr>
                        <a:t>2023</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623.14</a:t>
                      </a:r>
                    </a:p>
                  </a:txBody>
                  <a:tcPr marL="91440" marR="91440" marT="45720" marB="45720" anchor="ctr">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95.52</a:t>
                      </a:r>
                    </a:p>
                  </a:txBody>
                  <a:tcPr marL="91440" marR="91440" marT="45720" marB="45720" anchor="ctr">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84.67%</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619125">
                <a:tc>
                  <a:txBody>
                    <a:bodyPr lIns="133350" tIns="114300" rIns="133350" bIns="95250"/>
                    <a:lstStyle/>
                    <a:p>
                      <a:r>
                        <a:rPr sz="1875" b="0">
                          <a:solidFill>
                            <a:srgbClr val="142A3D"/>
                          </a:solidFill>
                          <a:latin typeface="Arial"/>
                          <a:ea typeface="Arial"/>
                          <a:cs typeface="Arial"/>
                        </a:rPr>
                        <a:t>2024</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843.40</a:t>
                      </a:r>
                    </a:p>
                  </a:txBody>
                  <a:tcPr marL="91440" marR="91440" marT="45720" marB="45720" anchor="ctr">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131.70</a:t>
                      </a:r>
                    </a:p>
                  </a:txBody>
                  <a:tcPr marL="91440" marR="91440" marT="45720" marB="45720" anchor="ctr">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75" b="0">
                          <a:solidFill>
                            <a:srgbClr val="142A3D"/>
                          </a:solidFill>
                          <a:latin typeface="Arial"/>
                          <a:ea typeface="Arial"/>
                          <a:cs typeface="Arial"/>
                        </a:rPr>
                        <a:t>84.38%</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r h="619125">
                <a:tc>
                  <a:txBody>
                    <a:bodyPr lIns="133350" tIns="114300" rIns="133350" bIns="95250"/>
                    <a:lstStyle/>
                    <a:p>
                      <a:r>
                        <a:rPr sz="1875" b="0">
                          <a:solidFill>
                            <a:srgbClr val="142A3D"/>
                          </a:solidFill>
                          <a:latin typeface="Arial"/>
                          <a:ea typeface="Arial"/>
                          <a:cs typeface="Arial"/>
                        </a:rPr>
                        <a:t>2025</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834.22</a:t>
                      </a:r>
                    </a:p>
                  </a:txBody>
                  <a:tcPr marL="91440" marR="91440" marT="45720" marB="45720" anchor="ctr">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133.45</a:t>
                      </a:r>
                    </a:p>
                  </a:txBody>
                  <a:tcPr marL="91440" marR="91440" marT="45720" marB="45720" anchor="ctr">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75" b="0">
                          <a:solidFill>
                            <a:srgbClr val="142A3D"/>
                          </a:solidFill>
                          <a:latin typeface="Arial"/>
                          <a:ea typeface="Arial"/>
                          <a:cs typeface="Arial"/>
                        </a:rPr>
                        <a:t>84.00%</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bl>
          </a:graphicData>
        </a:graphic>
      </p:graphicFrame>
      <p:sp>
        <p:nvSpPr>
          <p:cNvPr id="6" name="text-72">
            <a:extLst xmlns:a="http://schemas.openxmlformats.org/drawingml/2006/main">
              <a:ext uri="{FF2B5EF4-FFF2-40B4-BE49-F238E27FC236}">
                <a16:creationId xmlns:a16="http://schemas.microsoft.com/office/drawing/2014/main" id="{5E1BAB9E-8242-4B62-983A-75E53A58D6A4}"/>
              </a:ext>
            </a:extLst>
          </p:cNvPr>
          <p:cNvSpPr>
            <a:spLocks xmlns:a="http://schemas.openxmlformats.org/drawingml/2006/main" noGrp="1"/>
          </p:cNvSpPr>
          <p:nvPr/>
        </p:nvSpPr>
        <p:spPr>
          <a:xfrm xmlns:a="http://schemas.openxmlformats.org/drawingml/2006/main">
            <a:off x="533400" y="570547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A3D"/>
                </a:solidFill>
                <a:latin typeface="Arial"/>
                <a:ea typeface="Arial"/>
                <a:cs typeface="Arial"/>
              </a:defRPr>
            </a:defPPr>
            <a:lvl1pPr>
              <a:defRPr sz="2100" b="1">
                <a:solidFill>
                  <a:srgbClr val="142A3D"/>
                </a:solidFill>
                <a:latin typeface="Arial"/>
                <a:ea typeface="Arial"/>
                <a:cs typeface="Arial"/>
              </a:defRPr>
            </a:lvl1pPr>
            <a:lvl2pPr>
              <a:defRPr sz="2100" b="1">
                <a:solidFill>
                  <a:srgbClr val="142A3D"/>
                </a:solidFill>
                <a:latin typeface="Arial"/>
                <a:ea typeface="Arial"/>
                <a:cs typeface="Arial"/>
              </a:defRPr>
            </a:lvl2pPr>
            <a:lvl3pPr>
              <a:defRPr sz="2100" b="1">
                <a:solidFill>
                  <a:srgbClr val="142A3D"/>
                </a:solidFill>
                <a:latin typeface="Arial"/>
                <a:ea typeface="Arial"/>
                <a:cs typeface="Arial"/>
              </a:defRPr>
            </a:lvl3pPr>
            <a:lvl4pPr>
              <a:defRPr sz="2100" b="1">
                <a:solidFill>
                  <a:srgbClr val="142A3D"/>
                </a:solidFill>
                <a:latin typeface="Arial"/>
                <a:ea typeface="Arial"/>
                <a:cs typeface="Arial"/>
              </a:defRPr>
            </a:lvl4pPr>
            <a:lvl5pPr>
              <a:defRPr sz="2100" b="1">
                <a:solidFill>
                  <a:srgbClr val="142A3D"/>
                </a:solidFill>
                <a:latin typeface="Arial"/>
                <a:ea typeface="Arial"/>
                <a:cs typeface="Arial"/>
              </a:defRPr>
            </a:lvl5pPr>
            <a:lvl6pPr>
              <a:defRPr sz="2100" b="1">
                <a:solidFill>
                  <a:srgbClr val="142A3D"/>
                </a:solidFill>
                <a:latin typeface="Arial"/>
                <a:ea typeface="Arial"/>
                <a:cs typeface="Arial"/>
              </a:defRPr>
            </a:lvl6pPr>
            <a:lvl7pPr>
              <a:defRPr sz="2100" b="1">
                <a:solidFill>
                  <a:srgbClr val="142A3D"/>
                </a:solidFill>
                <a:latin typeface="Arial"/>
                <a:ea typeface="Arial"/>
                <a:cs typeface="Arial"/>
              </a:defRPr>
            </a:lvl7pPr>
            <a:lvl8pPr>
              <a:defRPr sz="2100" b="1">
                <a:solidFill>
                  <a:srgbClr val="142A3D"/>
                </a:solidFill>
                <a:latin typeface="Arial"/>
                <a:ea typeface="Arial"/>
                <a:cs typeface="Arial"/>
              </a:defRPr>
            </a:lvl8pPr>
            <a:lvl9pPr>
              <a:defRPr sz="2100" b="1">
                <a:solidFill>
                  <a:srgbClr val="142A3D"/>
                </a:solidFill>
                <a:latin typeface="Arial"/>
                <a:ea typeface="Arial"/>
                <a:cs typeface="Arial"/>
              </a:defRPr>
            </a:lvl9pPr>
          </a:lstStyle>
          <a:p xmlns:a="http://schemas.openxmlformats.org/drawingml/2006/main">
            <a:pPr>
              <a:defRPr sz="2100" b="1">
                <a:solidFill>
                  <a:srgbClr val="142A3D"/>
                </a:solidFill>
                <a:latin typeface="Arial"/>
                <a:ea typeface="Arial"/>
                <a:cs typeface="Arial"/>
              </a:defRPr>
            </a:pPr>
            <a:r>
              <a:rPr sz="2100" b="1">
                <a:solidFill>
                  <a:srgbClr val="142A3D"/>
                </a:solidFill>
                <a:latin typeface="Arial"/>
                <a:ea typeface="Arial"/>
                <a:cs typeface="Arial"/>
              </a:rPr>
              <a:t>2025 premium declined 1.09%; historical profit does not establish AI capacity.</a:t>
            </a:r>
          </a:p>
        </p:txBody>
      </p:sp>
    </p:spTree>
    <p:extLst>
      <p:ext uri="{BB962C8B-B14F-4D97-AF65-F5344CB8AC3E}">
        <p14:creationId xmlns:p14="http://schemas.microsoft.com/office/powerpoint/2010/main" val="1080904058"/>
      </p:ext>
    </p:extLst>
  </p:cSld>
</p:sld>
</file>

<file path=ppt/slides/slide14.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ext-73">
            <a:extLst xmlns:a="http://schemas.openxmlformats.org/drawingml/2006/main">
              <a:ext uri="{FF2B5EF4-FFF2-40B4-BE49-F238E27FC236}">
                <a16:creationId xmlns:a16="http://schemas.microsoft.com/office/drawing/2014/main" id="{9DC1AA1F-DACE-435B-A319-6D4C7A5E9387}"/>
              </a:ext>
            </a:extLst>
          </p:cNvPr>
          <p:cNvSpPr>
            <a:spLocks xmlns:a="http://schemas.openxmlformats.org/drawingml/2006/main" noGrp="1"/>
          </p:cNvSpPr>
          <p:nvPr/>
        </p:nvSpPr>
        <p:spPr>
          <a:xfrm xmlns:a="http://schemas.openxmlformats.org/drawingml/2006/main">
            <a:off x="533400" y="41910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3D"/>
                </a:solidFill>
                <a:latin typeface="Arial"/>
                <a:ea typeface="Arial"/>
                <a:cs typeface="Arial"/>
              </a:defRPr>
            </a:defPPr>
            <a:lvl1pPr>
              <a:defRPr sz="3300" b="1">
                <a:solidFill>
                  <a:srgbClr val="142A3D"/>
                </a:solidFill>
                <a:latin typeface="Arial"/>
                <a:ea typeface="Arial"/>
                <a:cs typeface="Arial"/>
              </a:defRPr>
            </a:lvl1pPr>
            <a:lvl2pPr>
              <a:defRPr sz="3300" b="1">
                <a:solidFill>
                  <a:srgbClr val="142A3D"/>
                </a:solidFill>
                <a:latin typeface="Arial"/>
                <a:ea typeface="Arial"/>
                <a:cs typeface="Arial"/>
              </a:defRPr>
            </a:lvl2pPr>
            <a:lvl3pPr>
              <a:defRPr sz="3300" b="1">
                <a:solidFill>
                  <a:srgbClr val="142A3D"/>
                </a:solidFill>
                <a:latin typeface="Arial"/>
                <a:ea typeface="Arial"/>
                <a:cs typeface="Arial"/>
              </a:defRPr>
            </a:lvl3pPr>
            <a:lvl4pPr>
              <a:defRPr sz="3300" b="1">
                <a:solidFill>
                  <a:srgbClr val="142A3D"/>
                </a:solidFill>
                <a:latin typeface="Arial"/>
                <a:ea typeface="Arial"/>
                <a:cs typeface="Arial"/>
              </a:defRPr>
            </a:lvl4pPr>
            <a:lvl5pPr>
              <a:defRPr sz="3300" b="1">
                <a:solidFill>
                  <a:srgbClr val="142A3D"/>
                </a:solidFill>
                <a:latin typeface="Arial"/>
                <a:ea typeface="Arial"/>
                <a:cs typeface="Arial"/>
              </a:defRPr>
            </a:lvl5pPr>
            <a:lvl6pPr>
              <a:defRPr sz="3300" b="1">
                <a:solidFill>
                  <a:srgbClr val="142A3D"/>
                </a:solidFill>
                <a:latin typeface="Arial"/>
                <a:ea typeface="Arial"/>
                <a:cs typeface="Arial"/>
              </a:defRPr>
            </a:lvl6pPr>
            <a:lvl7pPr>
              <a:defRPr sz="3300" b="1">
                <a:solidFill>
                  <a:srgbClr val="142A3D"/>
                </a:solidFill>
                <a:latin typeface="Arial"/>
                <a:ea typeface="Arial"/>
                <a:cs typeface="Arial"/>
              </a:defRPr>
            </a:lvl7pPr>
            <a:lvl8pPr>
              <a:defRPr sz="3300" b="1">
                <a:solidFill>
                  <a:srgbClr val="142A3D"/>
                </a:solidFill>
                <a:latin typeface="Arial"/>
                <a:ea typeface="Arial"/>
                <a:cs typeface="Arial"/>
              </a:defRPr>
            </a:lvl8pPr>
            <a:lvl9pPr>
              <a:defRPr sz="3300" b="1">
                <a:solidFill>
                  <a:srgbClr val="142A3D"/>
                </a:solidFill>
                <a:latin typeface="Arial"/>
                <a:ea typeface="Arial"/>
                <a:cs typeface="Arial"/>
              </a:defRPr>
            </a:lvl9pPr>
          </a:lstStyle>
          <a:p xmlns:a="http://schemas.openxmlformats.org/drawingml/2006/main">
            <a:pPr>
              <a:defRPr sz="3300" b="1">
                <a:solidFill>
                  <a:srgbClr val="142A3D"/>
                </a:solidFill>
                <a:latin typeface="Arial"/>
                <a:ea typeface="Arial"/>
                <a:cs typeface="Arial"/>
              </a:defRPr>
            </a:pPr>
            <a:r>
              <a:rPr sz="3300" b="1">
                <a:solidFill>
                  <a:srgbClr val="142A3D"/>
                </a:solidFill>
                <a:latin typeface="Arial"/>
                <a:ea typeface="Arial"/>
                <a:cs typeface="Arial"/>
              </a:rPr>
              <a:t>Appendix D: evidence boundaries and sources</a:t>
            </a:r>
          </a:p>
        </p:txBody>
      </p:sp>
      <p:sp>
        <p:nvSpPr>
          <p:cNvPr id="3" name="text-74">
            <a:extLst xmlns:a="http://schemas.openxmlformats.org/drawingml/2006/main">
              <a:ext uri="{FF2B5EF4-FFF2-40B4-BE49-F238E27FC236}">
                <a16:creationId xmlns:a16="http://schemas.microsoft.com/office/drawing/2014/main" id="{561A5639-79BD-4CA1-A64C-022C5F133998}"/>
              </a:ext>
            </a:extLst>
          </p:cNvPr>
          <p:cNvSpPr>
            <a:spLocks xmlns:a="http://schemas.openxmlformats.org/drawingml/2006/main" noGrp="1"/>
          </p:cNvSpPr>
          <p:nvPr/>
        </p:nvSpPr>
        <p:spPr>
          <a:xfrm xmlns:a="http://schemas.openxmlformats.org/drawingml/2006/main">
            <a:off x="533400" y="6362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Original research dates retained. Historical external extracts are not reproduced as verified statistics.</a:t>
            </a:r>
          </a:p>
        </p:txBody>
      </p:sp>
      <p:sp>
        <p:nvSpPr>
          <p:cNvPr id="4" name="text-75">
            <a:extLst xmlns:a="http://schemas.openxmlformats.org/drawingml/2006/main">
              <a:ext uri="{FF2B5EF4-FFF2-40B4-BE49-F238E27FC236}">
                <a16:creationId xmlns:a16="http://schemas.microsoft.com/office/drawing/2014/main" id="{F2E03203-E76B-41BA-8D14-63022BB131AE}"/>
              </a:ext>
            </a:extLst>
          </p:cNvPr>
          <p:cNvSpPr>
            <a:spLocks xmlns:a="http://schemas.openxmlformats.org/drawingml/2006/main" noGrp="1"/>
          </p:cNvSpPr>
          <p:nvPr/>
        </p:nvSpPr>
        <p:spPr>
          <a:xfrm xmlns:a="http://schemas.openxmlformats.org/drawingml/2006/main">
            <a:off x="11239500" y="63627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7584"/>
                </a:solidFill>
                <a:latin typeface="Arial"/>
                <a:ea typeface="Arial"/>
                <a:cs typeface="Arial"/>
              </a:defRPr>
            </a:defPPr>
            <a:lvl1pPr>
              <a:defRPr sz="1050" b="0">
                <a:solidFill>
                  <a:srgbClr val="627584"/>
                </a:solidFill>
                <a:latin typeface="Arial"/>
                <a:ea typeface="Arial"/>
                <a:cs typeface="Arial"/>
              </a:defRPr>
            </a:lvl1pPr>
            <a:lvl2pPr>
              <a:defRPr sz="1050" b="0">
                <a:solidFill>
                  <a:srgbClr val="627584"/>
                </a:solidFill>
                <a:latin typeface="Arial"/>
                <a:ea typeface="Arial"/>
                <a:cs typeface="Arial"/>
              </a:defRPr>
            </a:lvl2pPr>
            <a:lvl3pPr>
              <a:defRPr sz="1050" b="0">
                <a:solidFill>
                  <a:srgbClr val="627584"/>
                </a:solidFill>
                <a:latin typeface="Arial"/>
                <a:ea typeface="Arial"/>
                <a:cs typeface="Arial"/>
              </a:defRPr>
            </a:lvl3pPr>
            <a:lvl4pPr>
              <a:defRPr sz="1050" b="0">
                <a:solidFill>
                  <a:srgbClr val="627584"/>
                </a:solidFill>
                <a:latin typeface="Arial"/>
                <a:ea typeface="Arial"/>
                <a:cs typeface="Arial"/>
              </a:defRPr>
            </a:lvl4pPr>
            <a:lvl5pPr>
              <a:defRPr sz="1050" b="0">
                <a:solidFill>
                  <a:srgbClr val="627584"/>
                </a:solidFill>
                <a:latin typeface="Arial"/>
                <a:ea typeface="Arial"/>
                <a:cs typeface="Arial"/>
              </a:defRPr>
            </a:lvl5pPr>
            <a:lvl6pPr>
              <a:defRPr sz="1050" b="0">
                <a:solidFill>
                  <a:srgbClr val="627584"/>
                </a:solidFill>
                <a:latin typeface="Arial"/>
                <a:ea typeface="Arial"/>
                <a:cs typeface="Arial"/>
              </a:defRPr>
            </a:lvl6pPr>
            <a:lvl7pPr>
              <a:defRPr sz="1050" b="0">
                <a:solidFill>
                  <a:srgbClr val="627584"/>
                </a:solidFill>
                <a:latin typeface="Arial"/>
                <a:ea typeface="Arial"/>
                <a:cs typeface="Arial"/>
              </a:defRPr>
            </a:lvl7pPr>
            <a:lvl8pPr>
              <a:defRPr sz="1050" b="0">
                <a:solidFill>
                  <a:srgbClr val="627584"/>
                </a:solidFill>
                <a:latin typeface="Arial"/>
                <a:ea typeface="Arial"/>
                <a:cs typeface="Arial"/>
              </a:defRPr>
            </a:lvl8pPr>
            <a:lvl9pPr>
              <a:defRPr sz="1050" b="0">
                <a:solidFill>
                  <a:srgbClr val="627584"/>
                </a:solidFill>
                <a:latin typeface="Arial"/>
                <a:ea typeface="Arial"/>
                <a:cs typeface="Arial"/>
              </a:defRPr>
            </a:lvl9pPr>
          </a:lstStyle>
          <a:p xmlns:a="http://schemas.openxmlformats.org/drawingml/2006/main">
            <a:pPr>
              <a:defRPr sz="1050" b="0">
                <a:solidFill>
                  <a:srgbClr val="627584"/>
                </a:solidFill>
                <a:latin typeface="Arial"/>
                <a:ea typeface="Arial"/>
                <a:cs typeface="Arial"/>
              </a:defRPr>
            </a:pPr>
            <a:r>
              <a:rPr sz="1050" b="0">
                <a:solidFill>
                  <a:srgbClr val="627584"/>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6C16D0C0-0266-4D46-856D-3AB5D24386B9}"/>
              </a:ext>
            </a:extLst>
          </p:cNvPr>
          <p:cNvGraphicFramePr/>
          <p:nvPr/>
        </p:nvGraphicFramePr>
        <p:xfrm>
          <a:off xmlns:a="http://schemas.openxmlformats.org/drawingml/2006/main" x="533400" y="1657350"/>
          <a:ext xmlns:a="http://schemas.openxmlformats.org/drawingml/2006/main" cx="11125200" cy="3600450"/>
        </p:xfrm>
        <a:graphic xmlns:a="http://schemas.openxmlformats.org/drawingml/2006/main">
          <a:graphicData uri="http://schemas.openxmlformats.org/drawingml/2006/table">
            <a:tbl>
              <a:tblPr/>
              <a:tblGrid>
                <a:gridCol w="3905250"/>
                <a:gridCol w="7219950"/>
              </a:tblGrid>
              <a:tr h="600075">
                <a:tc>
                  <a:txBody>
                    <a:bodyPr lIns="133350" tIns="114300" rIns="133350" bIns="95250"/>
                    <a:lstStyle/>
                    <a:p>
                      <a:r>
                        <a:rPr sz="1800" b="1">
                          <a:solidFill>
                            <a:srgbClr val="FFFFFF"/>
                          </a:solidFill>
                          <a:latin typeface="Arial"/>
                          <a:ea typeface="Arial"/>
                          <a:cs typeface="Arial"/>
                        </a:rPr>
                        <a:t>Evidence</a:t>
                      </a:r>
                    </a:p>
                  </a:txBody>
                  <a:tcPr marL="91440" marR="91440" marT="45720" marB="45720" anchor="ctr">
                    <a:lnL w="9525">
                      <a:solidFill>
                        <a:srgbClr val="F5F3EF"/>
                      </a:solidFill>
                      <a:prstDash val="solid"/>
                    </a:lnL>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c>
                  <a:txBody>
                    <a:bodyPr lIns="133350" tIns="114300" rIns="133350" bIns="95250"/>
                    <a:lstStyle/>
                    <a:p>
                      <a:r>
                        <a:rPr sz="1800" b="1">
                          <a:solidFill>
                            <a:srgbClr val="FFFFFF"/>
                          </a:solidFill>
                          <a:latin typeface="Arial"/>
                          <a:ea typeface="Arial"/>
                          <a:cs typeface="Arial"/>
                        </a:rPr>
                        <a:t>Permitted use</a:t>
                      </a:r>
                    </a:p>
                  </a:txBody>
                  <a:tcPr marL="91440" marR="91440" marT="45720" marB="45720" anchor="ctr">
                    <a:lnR w="9525">
                      <a:solidFill>
                        <a:srgbClr val="F5F3EF"/>
                      </a:solidFill>
                      <a:prstDash val="solid"/>
                    </a:lnR>
                    <a:lnT w="9525">
                      <a:solidFill>
                        <a:srgbClr val="F5F3EF"/>
                      </a:solidFill>
                      <a:prstDash val="solid"/>
                    </a:lnT>
                    <a:lnB w="9525">
                      <a:solidFill>
                        <a:srgbClr val="F5F3EF"/>
                      </a:solidFill>
                      <a:prstDash val="solid"/>
                    </a:lnB>
                    <a:solidFill>
                      <a:srgbClr val="142A3D"/>
                    </a:solidFill>
                  </a:tcPr>
                </a:tc>
              </a:tr>
              <a:tr h="600075">
                <a:tc>
                  <a:txBody>
                    <a:bodyPr lIns="133350" tIns="114300" rIns="133350" bIns="95250"/>
                    <a:lstStyle/>
                    <a:p>
                      <a:r>
                        <a:rPr sz="1800" b="0">
                          <a:solidFill>
                            <a:srgbClr val="142A3D"/>
                          </a:solidFill>
                          <a:latin typeface="Arial"/>
                          <a:ea typeface="Arial"/>
                          <a:cs typeface="Arial"/>
                        </a:rPr>
                        <a:t>Exhibit A, 2021–2025</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00" b="0">
                          <a:solidFill>
                            <a:srgbClr val="142A3D"/>
                          </a:solidFill>
                          <a:latin typeface="Arial"/>
                          <a:ea typeface="Arial"/>
                          <a:cs typeface="Arial"/>
                        </a:rPr>
                        <a:t>Historical underwriting performance</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600075">
                <a:tc>
                  <a:txBody>
                    <a:bodyPr lIns="133350" tIns="114300" rIns="133350" bIns="95250"/>
                    <a:lstStyle/>
                    <a:p>
                      <a:r>
                        <a:rPr sz="1800" b="0">
                          <a:solidFill>
                            <a:srgbClr val="142A3D"/>
                          </a:solidFill>
                          <a:latin typeface="Arial"/>
                          <a:ea typeface="Arial"/>
                          <a:cs typeface="Arial"/>
                        </a:rPr>
                        <a:t>Exhibit B, n=135</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00" b="0">
                          <a:solidFill>
                            <a:srgbClr val="142A3D"/>
                          </a:solidFill>
                          <a:latin typeface="Arial"/>
                          <a:ea typeface="Arial"/>
                          <a:cs typeface="Arial"/>
                        </a:rPr>
                        <a:t>External severity segmentation and model checks</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r h="600075">
                <a:tc>
                  <a:txBody>
                    <a:bodyPr lIns="133350" tIns="114300" rIns="133350" bIns="95250"/>
                    <a:lstStyle/>
                    <a:p>
                      <a:r>
                        <a:rPr sz="1800" b="0">
                          <a:solidFill>
                            <a:srgbClr val="142A3D"/>
                          </a:solidFill>
                          <a:latin typeface="Arial"/>
                          <a:ea typeface="Arial"/>
                          <a:cs typeface="Arial"/>
                        </a:rPr>
                        <a:t>Geneva / HSB / Coalition</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00" b="0">
                          <a:solidFill>
                            <a:srgbClr val="142A3D"/>
                          </a:solidFill>
                          <a:latin typeface="Arial"/>
                          <a:ea typeface="Arial"/>
                          <a:cs typeface="Arial"/>
                        </a:rPr>
                        <a:t>Demand hypotheses and product-structure context</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r h="600075">
                <a:tc>
                  <a:txBody>
                    <a:bodyPr lIns="133350" tIns="114300" rIns="133350" bIns="95250"/>
                    <a:lstStyle/>
                    <a:p>
                      <a:r>
                        <a:rPr sz="1800" b="0">
                          <a:solidFill>
                            <a:srgbClr val="142A3D"/>
                          </a:solidFill>
                          <a:latin typeface="Arial"/>
                          <a:ea typeface="Arial"/>
                          <a:cs typeface="Arial"/>
                        </a:rPr>
                        <a:t>AIID/CSET and DAIL</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EBEFED"/>
                    </a:solidFill>
                  </a:tcPr>
                </a:tc>
                <a:tc>
                  <a:txBody>
                    <a:bodyPr lIns="133350" tIns="114300" rIns="133350" bIns="95250"/>
                    <a:lstStyle/>
                    <a:p>
                      <a:r>
                        <a:rPr sz="1800" b="0">
                          <a:solidFill>
                            <a:srgbClr val="142A3D"/>
                          </a:solidFill>
                          <a:latin typeface="Arial"/>
                          <a:ea typeface="Arial"/>
                          <a:cs typeface="Arial"/>
                        </a:rPr>
                        <a:t>Historical extracts unavailable; percentages omitted</a:t>
                      </a:r>
                    </a:p>
                  </a:txBody>
                  <a:tcPr marL="91440" marR="91440" marT="45720" marB="45720" anchor="ctr">
                    <a:lnR w="9525">
                      <a:solidFill>
                        <a:srgbClr val="F5F3EF"/>
                      </a:solidFill>
                      <a:prstDash val="solid"/>
                    </a:lnR>
                    <a:lnB w="9525">
                      <a:solidFill>
                        <a:srgbClr val="F5F3EF"/>
                      </a:solidFill>
                      <a:prstDash val="solid"/>
                    </a:lnB>
                    <a:solidFill>
                      <a:srgbClr val="EBEFED"/>
                    </a:solidFill>
                  </a:tcPr>
                </a:tc>
              </a:tr>
              <a:tr h="600075">
                <a:tc>
                  <a:txBody>
                    <a:bodyPr lIns="133350" tIns="114300" rIns="133350" bIns="95250"/>
                    <a:lstStyle/>
                    <a:p>
                      <a:r>
                        <a:rPr sz="1800" b="0">
                          <a:solidFill>
                            <a:srgbClr val="142A3D"/>
                          </a:solidFill>
                          <a:latin typeface="Arial"/>
                          <a:ea typeface="Arial"/>
                          <a:cs typeface="Arial"/>
                        </a:rPr>
                        <a:t>Pilot economics</a:t>
                      </a:r>
                    </a:p>
                  </a:txBody>
                  <a:tcPr marL="91440" marR="91440" marT="45720" marB="45720" anchor="ctr">
                    <a:lnL w="9525">
                      <a:solidFill>
                        <a:srgbClr val="F5F3EF"/>
                      </a:solidFill>
                      <a:prstDash val="solid"/>
                    </a:lnL>
                    <a:lnR w="9525">
                      <a:solidFill>
                        <a:srgbClr val="F5F3EF"/>
                      </a:solidFill>
                      <a:prstDash val="solid"/>
                    </a:lnR>
                    <a:lnB w="9525">
                      <a:solidFill>
                        <a:srgbClr val="F5F3EF"/>
                      </a:solidFill>
                      <a:prstDash val="solid"/>
                    </a:lnB>
                    <a:solidFill>
                      <a:srgbClr val="FFFFFF"/>
                    </a:solidFill>
                  </a:tcPr>
                </a:tc>
                <a:tc>
                  <a:txBody>
                    <a:bodyPr lIns="133350" tIns="114300" rIns="133350" bIns="95250"/>
                    <a:lstStyle/>
                    <a:p>
                      <a:r>
                        <a:rPr sz="1800" b="0">
                          <a:solidFill>
                            <a:srgbClr val="142A3D"/>
                          </a:solidFill>
                          <a:latin typeface="Arial"/>
                          <a:ea typeface="Arial"/>
                          <a:cs typeface="Arial"/>
                        </a:rPr>
                        <a:t>Explicit assumptions, not observed TSI results</a:t>
                      </a:r>
                    </a:p>
                  </a:txBody>
                  <a:tcPr marL="91440" marR="91440" marT="45720" marB="45720" anchor="ctr">
                    <a:lnR w="9525">
                      <a:solidFill>
                        <a:srgbClr val="F5F3EF"/>
                      </a:solidFill>
                      <a:prstDash val="solid"/>
                    </a:lnR>
                    <a:lnB w="9525">
                      <a:solidFill>
                        <a:srgbClr val="F5F3EF"/>
                      </a:solidFill>
                      <a:prstDash val="solid"/>
                    </a:lnB>
                    <a:solidFill>
                      <a:srgbClr val="FFFFFF"/>
                    </a:solidFill>
                  </a:tcPr>
                </a:tc>
              </a:tr>
            </a:tbl>
          </a:graphicData>
        </a:graphic>
      </p:graphicFrame>
      <p:sp>
        <p:nvSpPr>
          <p:cNvPr id="6" name="text-76">
            <a:extLst xmlns:a="http://schemas.openxmlformats.org/drawingml/2006/main">
              <a:ext uri="{FF2B5EF4-FFF2-40B4-BE49-F238E27FC236}">
                <a16:creationId xmlns:a16="http://schemas.microsoft.com/office/drawing/2014/main" id="{69CBCF7F-5E28-4FB3-8DAB-1C4818E95841}"/>
              </a:ext>
            </a:extLst>
          </p:cNvPr>
          <p:cNvSpPr>
            <a:spLocks xmlns:a="http://schemas.openxmlformats.org/drawingml/2006/main" noGrp="1"/>
          </p:cNvSpPr>
          <p:nvPr/>
        </p:nvSpPr>
        <p:spPr>
          <a:xfrm xmlns:a="http://schemas.openxmlformats.org/drawingml/2006/main">
            <a:off x="533400" y="5686425"/>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27584"/>
                </a:solidFill>
                <a:latin typeface="Arial"/>
                <a:ea typeface="Arial"/>
                <a:cs typeface="Arial"/>
              </a:defRPr>
            </a:defPPr>
            <a:lvl1pPr>
              <a:defRPr sz="1800" b="0">
                <a:solidFill>
                  <a:srgbClr val="627584"/>
                </a:solidFill>
                <a:latin typeface="Arial"/>
                <a:ea typeface="Arial"/>
                <a:cs typeface="Arial"/>
              </a:defRPr>
            </a:lvl1pPr>
            <a:lvl2pPr>
              <a:defRPr sz="1800" b="0">
                <a:solidFill>
                  <a:srgbClr val="627584"/>
                </a:solidFill>
                <a:latin typeface="Arial"/>
                <a:ea typeface="Arial"/>
                <a:cs typeface="Arial"/>
              </a:defRPr>
            </a:lvl2pPr>
            <a:lvl3pPr>
              <a:defRPr sz="1800" b="0">
                <a:solidFill>
                  <a:srgbClr val="627584"/>
                </a:solidFill>
                <a:latin typeface="Arial"/>
                <a:ea typeface="Arial"/>
                <a:cs typeface="Arial"/>
              </a:defRPr>
            </a:lvl3pPr>
            <a:lvl4pPr>
              <a:defRPr sz="1800" b="0">
                <a:solidFill>
                  <a:srgbClr val="627584"/>
                </a:solidFill>
                <a:latin typeface="Arial"/>
                <a:ea typeface="Arial"/>
                <a:cs typeface="Arial"/>
              </a:defRPr>
            </a:lvl4pPr>
            <a:lvl5pPr>
              <a:defRPr sz="1800" b="0">
                <a:solidFill>
                  <a:srgbClr val="627584"/>
                </a:solidFill>
                <a:latin typeface="Arial"/>
                <a:ea typeface="Arial"/>
                <a:cs typeface="Arial"/>
              </a:defRPr>
            </a:lvl5pPr>
            <a:lvl6pPr>
              <a:defRPr sz="1800" b="0">
                <a:solidFill>
                  <a:srgbClr val="627584"/>
                </a:solidFill>
                <a:latin typeface="Arial"/>
                <a:ea typeface="Arial"/>
                <a:cs typeface="Arial"/>
              </a:defRPr>
            </a:lvl6pPr>
            <a:lvl7pPr>
              <a:defRPr sz="1800" b="0">
                <a:solidFill>
                  <a:srgbClr val="627584"/>
                </a:solidFill>
                <a:latin typeface="Arial"/>
                <a:ea typeface="Arial"/>
                <a:cs typeface="Arial"/>
              </a:defRPr>
            </a:lvl7pPr>
            <a:lvl8pPr>
              <a:defRPr sz="1800" b="0">
                <a:solidFill>
                  <a:srgbClr val="627584"/>
                </a:solidFill>
                <a:latin typeface="Arial"/>
                <a:ea typeface="Arial"/>
                <a:cs typeface="Arial"/>
              </a:defRPr>
            </a:lvl8pPr>
            <a:lvl9pPr>
              <a:defRPr sz="1800" b="0">
                <a:solidFill>
                  <a:srgbClr val="627584"/>
                </a:solidFill>
                <a:latin typeface="Arial"/>
                <a:ea typeface="Arial"/>
                <a:cs typeface="Arial"/>
              </a:defRPr>
            </a:lvl9pPr>
          </a:lstStyle>
          <a:p xmlns:a="http://schemas.openxmlformats.org/drawingml/2006/main">
            <a:pPr>
              <a:defRPr sz="1800" b="0">
                <a:solidFill>
                  <a:srgbClr val="627584"/>
                </a:solidFill>
                <a:latin typeface="Arial"/>
                <a:ea typeface="Arial"/>
                <a:cs typeface="Arial"/>
              </a:defRPr>
            </a:pPr>
            <a:r>
              <a:rPr sz="1800" b="0">
                <a:solidFill>
                  <a:srgbClr val="627584"/>
                </a:solidFill>
                <a:latin typeface="Arial"/>
                <a:ea typeface="Arial"/>
                <a:cs typeface="Arial"/>
              </a:rPr>
              <a:t>Original DAIL extraction: Aug. 2, 2026. Full citations: docs/sources.md.</a:t>
            </a:r>
          </a:p>
        </p:txBody>
      </p:sp>
    </p:spTree>
    <p:extLst>
      <p:ext uri="{BB962C8B-B14F-4D97-AF65-F5344CB8AC3E}">
        <p14:creationId xmlns:p14="http://schemas.microsoft.com/office/powerpoint/2010/main" val="5233656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2026-10-26T00:03:56.1460000Z</dcterms:created>
  <dcterms:modified xsi:type="dcterms:W3CDTF">2026-10-26T00:03:56.1460000Z</dcterms:modified>
</coreProperties>
</file>